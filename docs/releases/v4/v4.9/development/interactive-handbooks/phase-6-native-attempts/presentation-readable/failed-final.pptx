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B5632F"/>
            </a:solidFill>
          </c:spPr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F7F3E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0"/>
            </a:solidFill>
          </a:ln>
        </c:spPr>
        <c:txPr>
          <a:bodyPr/>
          <a:lstStyle/>
          <a:p>
            <a:pPr>
              <a:defRPr sz="1300">
                <a:solidFill>
                  <a:srgbClr val="F7F3E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C9D6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>
                    <a:solidFill>
                      <a:srgbClr val="F7F3E9"/>
                    </a:solidFill>
                    <a:latin typeface="Arial"/>
                  </a:rPr>
                  <a:t>Visits (count)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9D6E0"/>
            </a:solidFill>
          </a:ln>
        </c:spPr>
        <c:txPr>
          <a:bodyPr/>
          <a:lstStyle/>
          <a:p>
            <a:pPr>
              <a:defRPr sz="1300">
                <a:solidFill>
                  <a:srgbClr val="F7F3E9"/>
                </a:solidFill>
                <a:latin typeface="Arial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7F3E9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F7F3E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537649" y="384048"/>
            <a:ext cx="342900" cy="411480"/>
          </a:xfrm>
          <a:custGeom>
            <a:avLst/>
            <a:gdLst/>
            <a:ahLst/>
            <a:cxnLst/>
            <a:rect l="l" t="t" r="r" b="b"/>
            <a:pathLst>
              <a:path w="342900" h="411480">
                <a:moveTo>
                  <a:pt x="0" y="205740"/>
                </a:moveTo>
                <a:lnTo>
                  <a:pt x="171450" y="0"/>
                </a:lnTo>
                <a:lnTo>
                  <a:pt x="342900" y="205740"/>
                </a:lnTo>
                <a:lnTo>
                  <a:pt x="171450" y="41148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97135" y="425196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9"/>
                </a:solidFill>
                <a:latin typeface="Arial"/>
              </a:rPr>
              <a:t>Aster Fieldworks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0A06A"/>
                </a:solidFill>
                <a:latin typeface="Arial"/>
              </a:rPr>
              <a:t>ASTER FIELDWORKS  ·  FIELD SERVICE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7F3E9"/>
                </a:solidFill>
                <a:latin typeface="Arial"/>
              </a:rPr>
              <a:t>Aster service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7F3E9"/>
                </a:solidFill>
                <a:latin typeface="Arial"/>
              </a:rPr>
              <a:t>45 visits completed across three regions: East 10, Central 15, West 20.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10789920" cy="3175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6E0"/>
                </a:solidFill>
                <a:latin typeface="Arial"/>
              </a:rPr>
              <a:t>Synthetic field service results; no real customer data.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D6E0"/>
                </a:solidFill>
                <a:latin typeface="Arial"/>
              </a:rPr>
              <a:t>Five slides · deep-dive coverage of the reading handbook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200">
        <p:fade thruBlk="0"/>
      </p:transition>
    </mc:Choice>
    <mc:Fallback>
      <p:transition spd="fast">
        <p:fade thruBlk="0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537649" y="384048"/>
            <a:ext cx="342900" cy="411480"/>
          </a:xfrm>
          <a:custGeom>
            <a:avLst/>
            <a:gdLst/>
            <a:ahLst/>
            <a:cxnLst/>
            <a:rect l="l" t="t" r="r" b="b"/>
            <a:pathLst>
              <a:path w="342900" h="411480">
                <a:moveTo>
                  <a:pt x="0" y="205740"/>
                </a:moveTo>
                <a:lnTo>
                  <a:pt x="171450" y="0"/>
                </a:lnTo>
                <a:lnTo>
                  <a:pt x="342900" y="205740"/>
                </a:lnTo>
                <a:lnTo>
                  <a:pt x="171450" y="41148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97135" y="425196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B3B"/>
                </a:solidFill>
                <a:latin typeface="Arial"/>
              </a:rPr>
              <a:t>Aster Fieldworks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844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72B3B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F5568"/>
                </a:solidFill>
                <a:latin typeface="Arial"/>
              </a:rPr>
              <a:t>The three topics that follow, in source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10789920" cy="868680"/>
          </a:xfrm>
          <a:prstGeom prst="roundRect">
            <a:avLst/>
          </a:prstGeom>
          <a:solidFill>
            <a:srgbClr val="EFE7D6"/>
          </a:solidFill>
          <a:ln w="12700">
            <a:solidFill>
              <a:srgbClr val="B56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935224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94491D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07792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72B3B"/>
                </a:solidFill>
                <a:latin typeface="Arial"/>
              </a:rPr>
              <a:t>1. Service path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F5568"/>
                </a:solidFill>
                <a:latin typeface="Arial"/>
              </a:rPr>
              <a:t>Four stages and one documented return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79"/>
            <a:ext cx="10789920" cy="868680"/>
          </a:xfrm>
          <a:prstGeom prst="roundRect">
            <a:avLst/>
          </a:prstGeom>
          <a:solidFill>
            <a:srgbClr val="EFE7D6"/>
          </a:solidFill>
          <a:ln w="12700">
            <a:solidFill>
              <a:srgbClr val="B56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986783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94491D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59351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72B3B"/>
                </a:solidFill>
                <a:latin typeface="Arial"/>
              </a:rPr>
              <a:t>2. Completed visits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F5568"/>
                </a:solidFill>
                <a:latin typeface="Arial"/>
              </a:rPr>
              <a:t>East 10, Central 15, West 20; 45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92040"/>
            <a:ext cx="10789920" cy="868680"/>
          </a:xfrm>
          <a:prstGeom prst="roundRect">
            <a:avLst/>
          </a:prstGeom>
          <a:solidFill>
            <a:srgbClr val="EFE7D6"/>
          </a:solidFill>
          <a:ln w="12700">
            <a:solidFill>
              <a:srgbClr val="B56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5038344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94491D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010912"/>
            <a:ext cx="9326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72B3B"/>
                </a:solidFill>
                <a:latin typeface="Arial"/>
              </a:rPr>
              <a:t>3. Boundaries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F5568"/>
                </a:solidFill>
                <a:latin typeface="Arial"/>
              </a:rPr>
              <a:t>What the source does not supply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200">
        <p:fade thruBlk="0"/>
      </p:transition>
    </mc:Choice>
    <mc:Fallback>
      <p:transition spd="fast">
        <p:fade thruBlk="0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537649" y="384048"/>
            <a:ext cx="342900" cy="411480"/>
          </a:xfrm>
          <a:custGeom>
            <a:avLst/>
            <a:gdLst/>
            <a:ahLst/>
            <a:cxnLst/>
            <a:rect l="l" t="t" r="r" b="b"/>
            <a:pathLst>
              <a:path w="342900" h="411480">
                <a:moveTo>
                  <a:pt x="0" y="205740"/>
                </a:moveTo>
                <a:lnTo>
                  <a:pt x="171450" y="0"/>
                </a:lnTo>
                <a:lnTo>
                  <a:pt x="342900" y="205740"/>
                </a:lnTo>
                <a:lnTo>
                  <a:pt x="171450" y="41148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97135" y="425196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B3B"/>
                </a:solidFill>
                <a:latin typeface="Arial"/>
              </a:rPr>
              <a:t>Aster Fieldworks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844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72B3B"/>
                </a:solidFill>
                <a:latin typeface="Arial"/>
              </a:rPr>
              <a:t>Service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F5568"/>
                </a:solidFill>
                <a:latin typeface="Arial"/>
              </a:rPr>
              <a:t>Four stages, one documented return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2331720" cy="1051560"/>
          </a:xfrm>
          <a:prstGeom prst="roundRect">
            <a:avLst/>
          </a:prstGeom>
          <a:solidFill>
            <a:srgbClr val="EFE7D6"/>
          </a:solidFill>
          <a:ln w="15875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72B3B"/>
                </a:solidFill>
                <a:latin typeface="Arial"/>
              </a:rPr>
              <a:t>Request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568"/>
                </a:solidFill>
                <a:latin typeface="Arial"/>
              </a:rPr>
              <a:t>stage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76200" cy="105156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84448" y="2606040"/>
            <a:ext cx="2331720" cy="1051560"/>
          </a:xfrm>
          <a:prstGeom prst="roundRect">
            <a:avLst/>
          </a:prstGeom>
          <a:solidFill>
            <a:srgbClr val="EFE7D6"/>
          </a:solidFill>
          <a:ln w="15875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72B3B"/>
                </a:solidFill>
                <a:latin typeface="Arial"/>
              </a:rPr>
              <a:t>Dispatch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568"/>
                </a:solidFill>
                <a:latin typeface="Arial"/>
              </a:rPr>
              <a:t>stage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2606040"/>
            <a:ext cx="76200" cy="105156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3096" y="2606040"/>
            <a:ext cx="2331720" cy="1051560"/>
          </a:xfrm>
          <a:prstGeom prst="roundRect">
            <a:avLst/>
          </a:prstGeom>
          <a:solidFill>
            <a:srgbClr val="EFE7D6"/>
          </a:solidFill>
          <a:ln w="15875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72B3B"/>
                </a:solidFill>
                <a:latin typeface="Arial"/>
              </a:rPr>
              <a:t>Field visit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568"/>
                </a:solidFill>
                <a:latin typeface="Arial"/>
              </a:rPr>
              <a:t>stage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3096" y="2606040"/>
            <a:ext cx="76200" cy="105156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81744" y="2606040"/>
            <a:ext cx="2331720" cy="1051560"/>
          </a:xfrm>
          <a:prstGeom prst="roundRect">
            <a:avLst/>
          </a:prstGeom>
          <a:solidFill>
            <a:srgbClr val="EFE7D6"/>
          </a:solidFill>
          <a:ln w="15875">
            <a:solidFill>
              <a:srgbClr val="17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72B3B"/>
                </a:solidFill>
                <a:latin typeface="Arial"/>
              </a:rPr>
              <a:t>Review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568"/>
                </a:solidFill>
                <a:latin typeface="Arial"/>
              </a:rPr>
              <a:t>stage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81744" y="2606040"/>
            <a:ext cx="76200" cy="105156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>
            <a:stCxn id="6" idx="3"/>
            <a:endCxn id="8" idx="1"/>
          </p:cNvCxnSpPr>
          <p:nvPr/>
        </p:nvCxnSpPr>
        <p:spPr>
          <a:xfrm>
            <a:off x="3017520" y="3131820"/>
            <a:ext cx="566928" cy="0"/>
          </a:xfrm>
          <a:prstGeom prst="curvedConnector3">
            <a:avLst/>
          </a:prstGeom>
          <a:ln w="28575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8" idx="3"/>
            <a:endCxn id="10" idx="1"/>
          </p:cNvCxnSpPr>
          <p:nvPr/>
        </p:nvCxnSpPr>
        <p:spPr>
          <a:xfrm>
            <a:off x="5916168" y="3131820"/>
            <a:ext cx="566928" cy="0"/>
          </a:xfrm>
          <a:prstGeom prst="curvedConnector3">
            <a:avLst/>
          </a:prstGeom>
          <a:ln w="28575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0" idx="3"/>
            <a:endCxn id="12" idx="1"/>
          </p:cNvCxnSpPr>
          <p:nvPr/>
        </p:nvCxnSpPr>
        <p:spPr>
          <a:xfrm>
            <a:off x="8814816" y="3131820"/>
            <a:ext cx="566928" cy="0"/>
          </a:xfrm>
          <a:prstGeom prst="curvedConnector3">
            <a:avLst/>
          </a:prstGeom>
          <a:ln w="28575">
            <a:solidFill>
              <a:srgbClr val="172B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4750308" y="3657600"/>
            <a:ext cx="5797296" cy="701802"/>
          </a:xfrm>
          <a:custGeom>
            <a:avLst/>
            <a:gdLst/>
            <a:ahLst/>
            <a:cxnLst/>
            <a:rect l="l" t="t" r="r" b="b"/>
            <a:pathLst>
              <a:path w="5797296" h="701802">
                <a:moveTo>
                  <a:pt x="5797296" y="0"/>
                </a:moveTo>
                <a:lnTo>
                  <a:pt x="5789852" y="57078"/>
                </a:lnTo>
                <a:lnTo>
                  <a:pt x="5767940" y="111729"/>
                </a:lnTo>
                <a:lnTo>
                  <a:pt x="5732189" y="163953"/>
                </a:lnTo>
                <a:lnTo>
                  <a:pt x="5683228" y="213751"/>
                </a:lnTo>
                <a:lnTo>
                  <a:pt x="5621687" y="261124"/>
                </a:lnTo>
                <a:lnTo>
                  <a:pt x="5548193" y="306073"/>
                </a:lnTo>
                <a:lnTo>
                  <a:pt x="5463376" y="348600"/>
                </a:lnTo>
                <a:lnTo>
                  <a:pt x="5367866" y="388704"/>
                </a:lnTo>
                <a:lnTo>
                  <a:pt x="5262291" y="426388"/>
                </a:lnTo>
                <a:lnTo>
                  <a:pt x="5147280" y="461651"/>
                </a:lnTo>
                <a:lnTo>
                  <a:pt x="5023463" y="494496"/>
                </a:lnTo>
                <a:lnTo>
                  <a:pt x="4891468" y="524922"/>
                </a:lnTo>
                <a:lnTo>
                  <a:pt x="4751924" y="552932"/>
                </a:lnTo>
                <a:lnTo>
                  <a:pt x="4605461" y="578526"/>
                </a:lnTo>
                <a:lnTo>
                  <a:pt x="4452708" y="601704"/>
                </a:lnTo>
                <a:lnTo>
                  <a:pt x="4294293" y="622469"/>
                </a:lnTo>
                <a:lnTo>
                  <a:pt x="4130845" y="640820"/>
                </a:lnTo>
                <a:lnTo>
                  <a:pt x="3962995" y="656760"/>
                </a:lnTo>
                <a:lnTo>
                  <a:pt x="3791370" y="670289"/>
                </a:lnTo>
                <a:lnTo>
                  <a:pt x="3616600" y="681407"/>
                </a:lnTo>
                <a:lnTo>
                  <a:pt x="3439313" y="690117"/>
                </a:lnTo>
                <a:lnTo>
                  <a:pt x="3260140" y="696419"/>
                </a:lnTo>
                <a:lnTo>
                  <a:pt x="3079708" y="700313"/>
                </a:lnTo>
                <a:lnTo>
                  <a:pt x="2898648" y="701802"/>
                </a:lnTo>
                <a:lnTo>
                  <a:pt x="2717587" y="700885"/>
                </a:lnTo>
                <a:lnTo>
                  <a:pt x="2537155" y="697564"/>
                </a:lnTo>
                <a:lnTo>
                  <a:pt x="2357982" y="691840"/>
                </a:lnTo>
                <a:lnTo>
                  <a:pt x="2180695" y="683715"/>
                </a:lnTo>
                <a:lnTo>
                  <a:pt x="2005925" y="673188"/>
                </a:lnTo>
                <a:lnTo>
                  <a:pt x="1834300" y="660261"/>
                </a:lnTo>
                <a:lnTo>
                  <a:pt x="1666450" y="644934"/>
                </a:lnTo>
                <a:lnTo>
                  <a:pt x="1503002" y="627210"/>
                </a:lnTo>
                <a:lnTo>
                  <a:pt x="1344587" y="607089"/>
                </a:lnTo>
                <a:lnTo>
                  <a:pt x="1191834" y="584571"/>
                </a:lnTo>
                <a:lnTo>
                  <a:pt x="1045371" y="559659"/>
                </a:lnTo>
                <a:lnTo>
                  <a:pt x="905827" y="532352"/>
                </a:lnTo>
                <a:lnTo>
                  <a:pt x="773832" y="502652"/>
                </a:lnTo>
                <a:lnTo>
                  <a:pt x="650015" y="470560"/>
                </a:lnTo>
                <a:lnTo>
                  <a:pt x="535004" y="436076"/>
                </a:lnTo>
                <a:lnTo>
                  <a:pt x="429429" y="399203"/>
                </a:lnTo>
                <a:lnTo>
                  <a:pt x="333919" y="359940"/>
                </a:lnTo>
                <a:lnTo>
                  <a:pt x="249102" y="318289"/>
                </a:lnTo>
                <a:lnTo>
                  <a:pt x="175608" y="274251"/>
                </a:lnTo>
                <a:lnTo>
                  <a:pt x="114067" y="227827"/>
                </a:lnTo>
                <a:lnTo>
                  <a:pt x="65106" y="179017"/>
                </a:lnTo>
                <a:lnTo>
                  <a:pt x="29355" y="127824"/>
                </a:lnTo>
                <a:lnTo>
                  <a:pt x="7443" y="74247"/>
                </a:lnTo>
                <a:lnTo>
                  <a:pt x="0" y="18288"/>
                </a:lnTo>
              </a:path>
            </a:pathLst>
          </a:custGeom>
          <a:noFill/>
          <a:ln w="28575">
            <a:solidFill>
              <a:srgbClr val="172B3B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47731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B3B"/>
                </a:solidFill>
                <a:latin typeface="Arial"/>
              </a:rPr>
              <a:t>A failed review returns to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72B3B"/>
                </a:solidFill>
                <a:latin typeface="Arial"/>
              </a:rPr>
              <a:t>•  Request -&gt; Dispatch -&gt; Field visit -&gt; Review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72B3B"/>
                </a:solidFill>
                <a:latin typeface="Arial"/>
              </a:rPr>
              <a:t>•  A failed review returns to Dispatch.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200">
        <p:fade thruBlk="0"/>
      </p:transition>
    </mc:Choice>
    <mc:Fallback>
      <p:transition spd="fast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537649" y="384048"/>
            <a:ext cx="342900" cy="411480"/>
          </a:xfrm>
          <a:custGeom>
            <a:avLst/>
            <a:gdLst/>
            <a:ahLst/>
            <a:cxnLst/>
            <a:rect l="l" t="t" r="r" b="b"/>
            <a:pathLst>
              <a:path w="342900" h="411480">
                <a:moveTo>
                  <a:pt x="0" y="205740"/>
                </a:moveTo>
                <a:lnTo>
                  <a:pt x="171450" y="0"/>
                </a:lnTo>
                <a:lnTo>
                  <a:pt x="342900" y="205740"/>
                </a:lnTo>
                <a:lnTo>
                  <a:pt x="171450" y="41148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97135" y="425196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9"/>
                </a:solidFill>
                <a:latin typeface="Arial"/>
              </a:rPr>
              <a:t>Aster Fieldworks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844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7F3E9"/>
                </a:solidFill>
                <a:latin typeface="Arial"/>
              </a:rPr>
              <a:t>Completed visits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2148840"/>
          <a:ext cx="6949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2377440"/>
            <a:ext cx="3749039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7F3E9"/>
                </a:solidFill>
                <a:latin typeface="Arial"/>
              </a:rPr>
              <a:t>•  East 10; Central 15; West 20. Total 45 visits.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7F3E9"/>
                </a:solidFill>
                <a:latin typeface="Arial"/>
              </a:rPr>
              <a:t>•  These are counts, not rates.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C9D6E0"/>
                </a:solidFill>
                <a:latin typeface="Arial"/>
              </a:rPr>
              <a:t>10 + 15 + 20 = 45. Counts only; no rate is derivable from them.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200">
        <p:fade thruBlk="0"/>
      </p:transition>
    </mc:Choice>
    <mc:Fallback>
      <p:transition spd="fast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>
                                            <p:graphicEl>
                                              <a:chart bldStep="series" seriesIdx="0" categoryIdx="-1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 animBg="0"/>
        </p:bldSub>
      </p:bldGraphic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537649" y="384048"/>
            <a:ext cx="342900" cy="411480"/>
          </a:xfrm>
          <a:custGeom>
            <a:avLst/>
            <a:gdLst/>
            <a:ahLst/>
            <a:cxnLst/>
            <a:rect l="l" t="t" r="r" b="b"/>
            <a:pathLst>
              <a:path w="342900" h="411480">
                <a:moveTo>
                  <a:pt x="0" y="205740"/>
                </a:moveTo>
                <a:lnTo>
                  <a:pt x="171450" y="0"/>
                </a:lnTo>
                <a:lnTo>
                  <a:pt x="342900" y="205740"/>
                </a:lnTo>
                <a:lnTo>
                  <a:pt x="171450" y="411480"/>
                </a:lnTo>
                <a:close/>
              </a:path>
            </a:pathLst>
          </a:cu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97135" y="425196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B3B"/>
                </a:solidFill>
                <a:latin typeface="Arial"/>
              </a:rPr>
              <a:t>Aster Fieldworks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844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72B3B"/>
                </a:solidFill>
                <a:latin typeface="Arial"/>
              </a:rP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F5568"/>
                </a:solidFill>
                <a:latin typeface="Arial"/>
              </a:rPr>
              <a:t>The source is explicit about its own limits. They are reproduced unchanged rather than filled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72B3B"/>
                </a:solidFill>
                <a:latin typeface="Arial"/>
              </a:rPr>
              <a:t>•  Five source slides including this page.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72B3B"/>
                </a:solidFill>
                <a:latin typeface="Arial"/>
              </a:rPr>
              <a:t>•  Costs unavailable. No forecast or confidence interval was supplied.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697480"/>
            <a:ext cx="5120640" cy="3200400"/>
          </a:xfrm>
          <a:prstGeom prst="rect">
            <a:avLst/>
          </a:prstGeom>
          <a:solidFill>
            <a:srgbClr val="EFE7D6"/>
          </a:solidFill>
          <a:ln w="15875">
            <a:solidFill>
              <a:srgbClr val="B56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55080" y="2697480"/>
            <a:ext cx="76200" cy="3200400"/>
          </a:xfrm>
          <a:prstGeom prst="rect">
            <a:avLst/>
          </a:prstGeom>
          <a:solidFill>
            <a:srgbClr val="B56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92608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4491D"/>
                </a:solidFill>
                <a:latin typeface="Arial"/>
              </a:rPr>
              <a:t>UNCERTAINTY CARRIED FORWARD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72B3B"/>
                </a:solidFill>
                <a:latin typeface="Arial"/>
              </a:rPr>
              <a:t>Two limits are stated by the source rather than estimated here: costs are unavailable, and no forecast or confidence interval was supplied. The visit figures are counts, not rates, so no per-region rate can be derived from them.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F5568"/>
                </a:solidFill>
                <a:latin typeface="Arial"/>
              </a:rPr>
              <a:t>Costs: unavailable.  Forecast: not supplied.  Confidence interval: not supplied.  Rates: not derivable.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200">
        <p:fade thruBlk="0"/>
      </p:transition>
    </mc:Choice>
    <mc:Fallback>
      <p:transition spd="fast">
        <p:fade thruBlk="0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 service review</dc:title>
  <dc:subject/>
  <dc:creator>Aster Fieldworks</dc:creator>
  <cp:keywords/>
  <dc:description>generated using python-pptx</dc:description>
  <cp:lastModifiedBy>Aster Fieldworks</cp:lastModifiedBy>
  <cp:revision>1</cp:revision>
  <dcterms:created xsi:type="dcterms:W3CDTF">2026-01-01T00:00:00Z</dcterms:created>
  <dcterms:modified xsi:type="dcterms:W3CDTF">2026-01-01T00:00:00Z</dcterms:modified>
  <cp:category/>
</cp:coreProperties>
</file>