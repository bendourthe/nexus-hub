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solidFill>
              <a:srgbClr val="B5632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Central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10.0</c:v>
                </c:pt>
                <c:pt idx="1">
                  <c:v>15.0</c:v>
                </c:pt>
                <c:pt idx="2">
                  <c:v>20.0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2400" b="1">
                  <a:solidFill>
                    <a:srgbClr val="F7F3E9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F7F3E9"/>
            </a:solidFill>
          </a:ln>
        </c:spPr>
        <c:txPr>
          <a:bodyPr/>
          <a:lstStyle/>
          <a:p>
            <a:pPr>
              <a:defRPr sz="2200">
                <a:solidFill>
                  <a:srgbClr val="F7F3E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>
          <c:spPr>
            <a:ln w="6350">
              <a:solidFill>
                <a:srgbClr val="687985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800">
                    <a:solidFill>
                      <a:srgbClr val="F7F3E9"/>
                    </a:solidFill>
                    <a:latin typeface="Arial"/>
                  </a:defRPr>
                </a:pPr>
                <a:r>
                  <a:t>Completed visits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solidFill>
              <a:srgbClr val="F7F3E9"/>
            </a:solidFill>
          </a:ln>
        </c:spPr>
        <c:txPr>
          <a:bodyPr/>
          <a:lstStyle/>
          <a:p>
            <a:pPr>
              <a:defRPr sz="2200">
                <a:solidFill>
                  <a:srgbClr val="F7F3E9"/>
                </a:solidFill>
                <a:latin typeface="Arial"/>
              </a:defRPr>
            </a:pPr>
          </a:p>
        </c:txPr>
        <c:crossAx val="-2068027336"/>
        <c:crosses val="autoZero"/>
        <c:majorUnit val="5.0"/>
      </c:valAx>
    </c:plotArea>
    <c:legend>
      <c:legendPos val="b"/>
      <c:overlay val="0"/>
      <c:txPr>
        <a:bodyPr/>
        <a:lstStyle/>
        <a:p>
          <a:pPr>
            <a:defRPr sz="1800">
              <a:solidFill>
                <a:srgbClr val="F7F3E9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172B3B"/>
    </a:solidFill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B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65760"/>
            <a:ext cx="3611880" cy="632079"/>
          </a:xfrm>
          <a:prstGeom prst="rect">
            <a:avLst/>
          </a:prstGeom>
        </p:spPr>
      </p:pic>
      <p:sp>
        <p:nvSpPr>
          <p:cNvPr id="3" name="Aster service review"/>
          <p:cNvSpPr txBox="1"/>
          <p:nvPr/>
        </p:nvSpPr>
        <p:spPr>
          <a:xfrm>
            <a:off x="658368" y="1508760"/>
            <a:ext cx="10652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6800" b="1">
                <a:solidFill>
                  <a:srgbClr val="F7F3E9"/>
                </a:solidFill>
                <a:latin typeface="Arial"/>
              </a:defRPr>
            </a:pPr>
            <a:r>
              <a:t>Aster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6800" b="1">
                <a:solidFill>
                  <a:srgbClr val="F7F3E9"/>
                </a:solidFill>
                <a:latin typeface="Arial"/>
              </a:defRPr>
            </a:pPr>
            <a:r>
              <a:t>service review</a:t>
            </a:r>
          </a:p>
        </p:txBody>
      </p:sp>
      <p:sp>
        <p:nvSpPr>
          <p:cNvPr id="4" name="Synthetic field service results; no real customer data."/>
          <p:cNvSpPr txBox="1"/>
          <p:nvPr/>
        </p:nvSpPr>
        <p:spPr>
          <a:xfrm>
            <a:off x="713232" y="429768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600" b="0">
                <a:solidFill>
                  <a:srgbClr val="F7F3E9"/>
                </a:solidFill>
                <a:latin typeface="Arial"/>
              </a:defRPr>
            </a:pPr>
            <a:r>
              <a:t>Synthetic field service results;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2600" b="0">
                <a:solidFill>
                  <a:srgbClr val="F7F3E9"/>
                </a:solidFill>
                <a:latin typeface="Arial"/>
              </a:defRPr>
            </a:pPr>
            <a:r>
              <a:t>no real customer data.</a:t>
            </a:r>
          </a:p>
        </p:txBody>
      </p:sp>
      <p:cxnSp>
        <p:nvCxnSpPr>
          <p:cNvPr id="5" name="line"/>
          <p:cNvCxnSpPr/>
          <p:nvPr/>
        </p:nvCxnSpPr>
        <p:spPr>
          <a:xfrm>
            <a:off x="731520" y="5943600"/>
            <a:ext cx="4572000" cy="0"/>
          </a:xfrm>
          <a:prstGeom prst="line">
            <a:avLst/>
          </a:prstGeom>
          <a:ln w="38100">
            <a:solidFill>
              <a:srgbClr val="B563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ns0="http://schemas.microsoft.com/office/powerpoint/2010/main" spd="fast" advClick="1" ns0:dur="200">
    <p:fade thruBlk="0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65760"/>
            <a:ext cx="3063240" cy="536067"/>
          </a:xfrm>
          <a:prstGeom prst="rect">
            <a:avLst/>
          </a:prstGeom>
        </p:spPr>
      </p:pic>
      <p:sp>
        <p:nvSpPr>
          <p:cNvPr id="3" name="Agenda"/>
          <p:cNvSpPr txBox="1"/>
          <p:nvPr/>
        </p:nvSpPr>
        <p:spPr>
          <a:xfrm>
            <a:off x="640080" y="1508760"/>
            <a:ext cx="374903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5500" b="1">
                <a:solidFill>
                  <a:srgbClr val="172B3B"/>
                </a:solidFill>
                <a:latin typeface="Arial"/>
              </a:defRPr>
            </a:pPr>
            <a:r>
              <a:t>Agenda</a:t>
            </a:r>
          </a:p>
        </p:txBody>
      </p:sp>
      <p:cxnSp>
        <p:nvCxnSpPr>
          <p:cNvPr id="4" name="line"/>
          <p:cNvCxnSpPr/>
          <p:nvPr/>
        </p:nvCxnSpPr>
        <p:spPr>
          <a:xfrm>
            <a:off x="4617720" y="1417320"/>
            <a:ext cx="6812280" cy="0"/>
          </a:xfrm>
          <a:prstGeom prst="line">
            <a:avLst/>
          </a:prstGeom>
          <a:ln w="12700">
            <a:solidFill>
              <a:srgbClr val="172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1.  Service path">
            <a:hlinkClick action="ppaction://hlinksldjump" r:id="rId3"/>
          </p:cNvPr>
          <p:cNvSpPr txBox="1"/>
          <p:nvPr/>
        </p:nvSpPr>
        <p:spPr>
          <a:xfrm>
            <a:off x="4709160" y="1728216"/>
            <a:ext cx="6583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000" b="0">
                <a:solidFill>
                  <a:srgbClr val="172B3B"/>
                </a:solidFill>
                <a:latin typeface="Arial"/>
              </a:defRPr>
            </a:pPr>
            <a:r>
              <a:t>1.  Service path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4617720" y="2770632"/>
            <a:ext cx="6812280" cy="0"/>
          </a:xfrm>
          <a:prstGeom prst="line">
            <a:avLst/>
          </a:prstGeom>
          <a:ln w="12700">
            <a:solidFill>
              <a:srgbClr val="172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2.  Completed visits">
            <a:hlinkClick action="ppaction://hlinksldjump" r:id="rId4"/>
          </p:cNvPr>
          <p:cNvSpPr txBox="1"/>
          <p:nvPr/>
        </p:nvSpPr>
        <p:spPr>
          <a:xfrm>
            <a:off x="4709160" y="3081528"/>
            <a:ext cx="6583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000" b="0">
                <a:solidFill>
                  <a:srgbClr val="172B3B"/>
                </a:solidFill>
                <a:latin typeface="Arial"/>
              </a:defRPr>
            </a:pPr>
            <a:r>
              <a:t>2.  Completed visits</a:t>
            </a:r>
          </a:p>
        </p:txBody>
      </p:sp>
      <p:cxnSp>
        <p:nvCxnSpPr>
          <p:cNvPr id="8" name="line"/>
          <p:cNvCxnSpPr/>
          <p:nvPr/>
        </p:nvCxnSpPr>
        <p:spPr>
          <a:xfrm>
            <a:off x="4617720" y="4123944"/>
            <a:ext cx="6812280" cy="0"/>
          </a:xfrm>
          <a:prstGeom prst="line">
            <a:avLst/>
          </a:prstGeom>
          <a:ln w="12700">
            <a:solidFill>
              <a:srgbClr val="172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3.  Boundaries">
            <a:hlinkClick action="ppaction://hlinksldjump" r:id="rId5"/>
          </p:cNvPr>
          <p:cNvSpPr txBox="1"/>
          <p:nvPr/>
        </p:nvSpPr>
        <p:spPr>
          <a:xfrm>
            <a:off x="4709160" y="4434840"/>
            <a:ext cx="6583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000" b="0">
                <a:solidFill>
                  <a:srgbClr val="172B3B"/>
                </a:solidFill>
                <a:latin typeface="Arial"/>
              </a:defRPr>
            </a:pPr>
            <a:r>
              <a:t>3.  Boundaries</a:t>
            </a:r>
          </a:p>
        </p:txBody>
      </p:sp>
      <p:cxnSp>
        <p:nvCxnSpPr>
          <p:cNvPr id="10" name="line"/>
          <p:cNvCxnSpPr/>
          <p:nvPr/>
        </p:nvCxnSpPr>
        <p:spPr>
          <a:xfrm>
            <a:off x="4617720" y="5477256"/>
            <a:ext cx="6812280" cy="0"/>
          </a:xfrm>
          <a:prstGeom prst="line">
            <a:avLst/>
          </a:prstGeom>
          <a:ln w="12700">
            <a:solidFill>
              <a:srgbClr val="172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ns0="http://schemas.microsoft.com/office/powerpoint/2010/main" spd="fast" advClick="1" ns0:dur="200">
    <p:fade thruBlk="0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65760"/>
            <a:ext cx="3063240" cy="536067"/>
          </a:xfrm>
          <a:prstGeom prst="rect">
            <a:avLst/>
          </a:prstGeom>
        </p:spPr>
      </p:pic>
      <p:sp>
        <p:nvSpPr>
          <p:cNvPr id="3" name="Service path"/>
          <p:cNvSpPr txBox="1"/>
          <p:nvPr/>
        </p:nvSpPr>
        <p:spPr>
          <a:xfrm>
            <a:off x="640080" y="9144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4800" b="1">
                <a:solidFill>
                  <a:srgbClr val="172B3B"/>
                </a:solidFill>
                <a:latin typeface="Arial"/>
              </a:defRPr>
            </a:pPr>
            <a:r>
              <a:t>Service path</a:t>
            </a:r>
          </a:p>
        </p:txBody>
      </p:sp>
      <p:cxnSp>
        <p:nvCxnSpPr>
          <p:cNvPr id="4" name="Request to Dispatch"/>
          <p:cNvCxnSpPr/>
          <p:nvPr/>
        </p:nvCxnSpPr>
        <p:spPr>
          <a:xfrm>
            <a:off x="2715768" y="3200400"/>
            <a:ext cx="530352" cy="0"/>
          </a:xfrm>
          <a:prstGeom prst="line">
            <a:avLst/>
          </a:prstGeom>
          <a:ln w="25400">
            <a:solidFill>
              <a:srgbClr val="172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ispatch to Field visit"/>
          <p:cNvCxnSpPr/>
          <p:nvPr/>
        </p:nvCxnSpPr>
        <p:spPr>
          <a:xfrm>
            <a:off x="5303520" y="3200400"/>
            <a:ext cx="530352" cy="0"/>
          </a:xfrm>
          <a:prstGeom prst="line">
            <a:avLst/>
          </a:prstGeom>
          <a:ln w="25400">
            <a:solidFill>
              <a:srgbClr val="172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ield visit to Review"/>
          <p:cNvCxnSpPr/>
          <p:nvPr/>
        </p:nvCxnSpPr>
        <p:spPr>
          <a:xfrm>
            <a:off x="7891271" y="3200400"/>
            <a:ext cx="530353" cy="0"/>
          </a:xfrm>
          <a:prstGeom prst="line">
            <a:avLst/>
          </a:prstGeom>
          <a:ln w="25400">
            <a:solidFill>
              <a:srgbClr val="172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irected edge: Review to Dispatch on failed review"/>
          <p:cNvSpPr/>
          <p:nvPr/>
        </p:nvSpPr>
        <p:spPr>
          <a:xfrm>
            <a:off x="4315968" y="3611880"/>
            <a:ext cx="5175504" cy="1325880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10000" y="0"/>
                </a:moveTo>
                <a:cubicBezTo>
                  <a:pt x="10000" y="8500"/>
                  <a:pt x="10000" y="8500"/>
                  <a:pt x="8800" y="8500"/>
                </a:cubicBezTo>
                <a:lnTo>
                  <a:pt x="1200" y="8500"/>
                </a:lnTo>
                <a:cubicBezTo>
                  <a:pt x="0" y="8500"/>
                  <a:pt x="0" y="8500"/>
                  <a:pt x="0" y="0"/>
                </a:cubicBezTo>
              </a:path>
            </a:pathLst>
          </a:custGeom>
          <a:noFill/>
          <a:ln w="31750">
            <a:solidFill>
              <a:srgbClr val="B5632F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ocess node: Request"/>
          <p:cNvSpPr/>
          <p:nvPr/>
        </p:nvSpPr>
        <p:spPr>
          <a:xfrm>
            <a:off x="658368" y="2788920"/>
            <a:ext cx="2057400" cy="822960"/>
          </a:xfrm>
          <a:prstGeom prst="roundRect">
            <a:avLst>
              <a:gd name="adj" fmla="val 13000"/>
            </a:avLst>
          </a:prstGeom>
          <a:solidFill>
            <a:srgbClr val="F7F3E9"/>
          </a:solidFill>
          <a:ln w="19050">
            <a:solidFill>
              <a:srgbClr val="17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172B3B"/>
                </a:solidFill>
                <a:latin typeface="Arial"/>
              </a:defRPr>
            </a:pPr>
            <a:r>
              <a:t>Request</a:t>
            </a:r>
          </a:p>
        </p:txBody>
      </p:sp>
      <p:sp>
        <p:nvSpPr>
          <p:cNvPr id="9" name="Process node: Dispatch"/>
          <p:cNvSpPr/>
          <p:nvPr/>
        </p:nvSpPr>
        <p:spPr>
          <a:xfrm>
            <a:off x="3246120" y="2788920"/>
            <a:ext cx="2057400" cy="822960"/>
          </a:xfrm>
          <a:prstGeom prst="roundRect">
            <a:avLst>
              <a:gd name="adj" fmla="val 13000"/>
            </a:avLst>
          </a:prstGeom>
          <a:solidFill>
            <a:srgbClr val="F7F3E9"/>
          </a:solidFill>
          <a:ln w="19050">
            <a:solidFill>
              <a:srgbClr val="17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172B3B"/>
                </a:solidFill>
                <a:latin typeface="Arial"/>
              </a:defRPr>
            </a:pPr>
            <a:r>
              <a:t>Dispatch</a:t>
            </a:r>
          </a:p>
        </p:txBody>
      </p:sp>
      <p:sp>
        <p:nvSpPr>
          <p:cNvPr id="10" name="Process node: Field visit"/>
          <p:cNvSpPr/>
          <p:nvPr/>
        </p:nvSpPr>
        <p:spPr>
          <a:xfrm>
            <a:off x="5833872" y="2788920"/>
            <a:ext cx="2057400" cy="822960"/>
          </a:xfrm>
          <a:prstGeom prst="roundRect">
            <a:avLst>
              <a:gd name="adj" fmla="val 13000"/>
            </a:avLst>
          </a:prstGeom>
          <a:solidFill>
            <a:srgbClr val="F7F3E9"/>
          </a:solidFill>
          <a:ln w="19050">
            <a:solidFill>
              <a:srgbClr val="17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172B3B"/>
                </a:solidFill>
                <a:latin typeface="Arial"/>
              </a:defRPr>
            </a:pPr>
            <a:r>
              <a:t>Field visit</a:t>
            </a:r>
          </a:p>
        </p:txBody>
      </p:sp>
      <p:sp>
        <p:nvSpPr>
          <p:cNvPr id="11" name="Process node: Review"/>
          <p:cNvSpPr/>
          <p:nvPr/>
        </p:nvSpPr>
        <p:spPr>
          <a:xfrm>
            <a:off x="8421624" y="2788920"/>
            <a:ext cx="2057400" cy="822960"/>
          </a:xfrm>
          <a:prstGeom prst="roundRect">
            <a:avLst>
              <a:gd name="adj" fmla="val 13000"/>
            </a:avLst>
          </a:prstGeom>
          <a:solidFill>
            <a:srgbClr val="F7F3E9"/>
          </a:solidFill>
          <a:ln w="19050">
            <a:solidFill>
              <a:srgbClr val="17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172B3B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12" name="Failed review"/>
          <p:cNvSpPr txBox="1"/>
          <p:nvPr/>
        </p:nvSpPr>
        <p:spPr>
          <a:xfrm>
            <a:off x="6035040" y="498348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72B3B"/>
                </a:solidFill>
                <a:latin typeface="Arial"/>
              </a:defRPr>
            </a:pPr>
            <a:r>
              <a:t>Failed review</a:t>
            </a:r>
          </a:p>
        </p:txBody>
      </p:sp>
      <p:sp>
        <p:nvSpPr>
          <p:cNvPr id="13" name="Request -&gt; Dispatch -&gt; Field visit -&gt; Review"/>
          <p:cNvSpPr txBox="1"/>
          <p:nvPr/>
        </p:nvSpPr>
        <p:spPr>
          <a:xfrm>
            <a:off x="685800" y="5632704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172B3B"/>
                </a:solidFill>
                <a:latin typeface="Arial"/>
              </a:defRPr>
            </a:pPr>
            <a:r>
              <a:t>Request -&gt; Dispatch -&gt; Field visit -&gt; Review</a:t>
            </a:r>
          </a:p>
        </p:txBody>
      </p:sp>
      <p:sp>
        <p:nvSpPr>
          <p:cNvPr id="14" name="A failed review returns to Dispatch."/>
          <p:cNvSpPr txBox="1"/>
          <p:nvPr/>
        </p:nvSpPr>
        <p:spPr>
          <a:xfrm>
            <a:off x="685800" y="610819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72B3B"/>
                </a:solidFill>
                <a:latin typeface="Arial"/>
              </a:defRPr>
            </a:pPr>
            <a:r>
              <a:t>A failed review returns to Dispatch.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200">
    <p:fade thruBlk="0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B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65760"/>
            <a:ext cx="3063240" cy="536067"/>
          </a:xfrm>
          <a:prstGeom prst="rect">
            <a:avLst/>
          </a:prstGeom>
        </p:spPr>
      </p:pic>
      <p:sp>
        <p:nvSpPr>
          <p:cNvPr id="3" name="Completed visits"/>
          <p:cNvSpPr txBox="1"/>
          <p:nvPr/>
        </p:nvSpPr>
        <p:spPr>
          <a:xfrm>
            <a:off x="640080" y="896112"/>
            <a:ext cx="9784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4800" b="1">
                <a:solidFill>
                  <a:srgbClr val="F7F3E9"/>
                </a:solidFill>
                <a:latin typeface="Arial"/>
              </a:defRPr>
            </a:pPr>
            <a:r>
              <a:t>Completed visits</a:t>
            </a:r>
          </a:p>
        </p:txBody>
      </p:sp>
      <p:sp>
        <p:nvSpPr>
          <p:cNvPr id="4" name="45"/>
          <p:cNvSpPr txBox="1"/>
          <p:nvPr/>
        </p:nvSpPr>
        <p:spPr>
          <a:xfrm>
            <a:off x="640080" y="246888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600" b="1">
                <a:solidFill>
                  <a:srgbClr val="F7F3E9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5" name="completed visits"/>
          <p:cNvSpPr txBox="1"/>
          <p:nvPr/>
        </p:nvSpPr>
        <p:spPr>
          <a:xfrm>
            <a:off x="749808" y="3931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300" b="0">
                <a:solidFill>
                  <a:srgbClr val="F7F3E9"/>
                </a:solidFill>
                <a:latin typeface="Arial"/>
              </a:defRPr>
            </a:pPr>
            <a:r>
              <a:t>completed visits</a:t>
            </a:r>
          </a:p>
        </p:txBody>
      </p:sp>
      <p:sp>
        <p:nvSpPr>
          <p:cNvPr id="6" name="East 10; Central 15; West 20. Total 45 visits."/>
          <p:cNvSpPr txBox="1"/>
          <p:nvPr/>
        </p:nvSpPr>
        <p:spPr>
          <a:xfrm>
            <a:off x="749808" y="4709160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F7F3E9"/>
                </a:solidFill>
                <a:latin typeface="Arial"/>
              </a:defRPr>
            </a:pPr>
            <a:r>
              <a:t>East 10; Central 15;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F7F3E9"/>
                </a:solidFill>
                <a:latin typeface="Arial"/>
              </a:defRPr>
            </a:pPr>
            <a:r>
              <a:t>West 20. Total 45 visits.</a:t>
            </a:r>
          </a:p>
        </p:txBody>
      </p:sp>
      <p:sp>
        <p:nvSpPr>
          <p:cNvPr id="7" name="These are counts, not rates."/>
          <p:cNvSpPr txBox="1"/>
          <p:nvPr/>
        </p:nvSpPr>
        <p:spPr>
          <a:xfrm>
            <a:off x="749808" y="573328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F7F3E9"/>
                </a:solidFill>
                <a:latin typeface="Arial"/>
              </a:defRPr>
            </a:pPr>
            <a:r>
              <a:t>These are counts,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F7F3E9"/>
                </a:solidFill>
                <a:latin typeface="Arial"/>
              </a:defRPr>
            </a:pPr>
            <a:r>
              <a:t>not rates.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343400" y="1965960"/>
          <a:ext cx="7178040" cy="4434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xmlns:ns0="http://schemas.microsoft.com/office/powerpoint/2010/main" spd="fast" advClick="1" ns0:dur="200">
    <p:fade thruBlk="0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65760"/>
            <a:ext cx="3063240" cy="536067"/>
          </a:xfrm>
          <a:prstGeom prst="rect">
            <a:avLst/>
          </a:prstGeom>
        </p:spPr>
      </p:pic>
      <p:sp>
        <p:nvSpPr>
          <p:cNvPr id="3" name="Boundaries"/>
          <p:cNvSpPr txBox="1"/>
          <p:nvPr/>
        </p:nvSpPr>
        <p:spPr>
          <a:xfrm>
            <a:off x="640080" y="114300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5200" b="1">
                <a:solidFill>
                  <a:srgbClr val="172B3B"/>
                </a:solidFill>
                <a:latin typeface="Arial"/>
              </a:defRPr>
            </a:pPr>
            <a:r>
              <a:t>Boundaries</a:t>
            </a:r>
          </a:p>
        </p:txBody>
      </p:sp>
      <p:cxnSp>
        <p:nvCxnSpPr>
          <p:cNvPr id="4" name="line"/>
          <p:cNvCxnSpPr/>
          <p:nvPr/>
        </p:nvCxnSpPr>
        <p:spPr>
          <a:xfrm>
            <a:off x="685800" y="2907792"/>
            <a:ext cx="3017520" cy="0"/>
          </a:xfrm>
          <a:prstGeom prst="line">
            <a:avLst/>
          </a:prstGeom>
          <a:ln w="25400">
            <a:solidFill>
              <a:srgbClr val="B563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line"/>
          <p:cNvCxnSpPr/>
          <p:nvPr/>
        </p:nvCxnSpPr>
        <p:spPr>
          <a:xfrm>
            <a:off x="4617720" y="2907792"/>
            <a:ext cx="6675120" cy="0"/>
          </a:xfrm>
          <a:prstGeom prst="line">
            <a:avLst/>
          </a:prstGeom>
          <a:ln w="25400">
            <a:solidFill>
              <a:srgbClr val="B563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ive source slides including this page."/>
          <p:cNvSpPr txBox="1"/>
          <p:nvPr/>
        </p:nvSpPr>
        <p:spPr>
          <a:xfrm>
            <a:off x="685800" y="3291840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500" b="0">
                <a:solidFill>
                  <a:srgbClr val="172B3B"/>
                </a:solidFill>
                <a:latin typeface="Arial"/>
              </a:defRPr>
            </a:pPr>
            <a:r>
              <a:t>Five source slides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2500" b="0">
                <a:solidFill>
                  <a:srgbClr val="172B3B"/>
                </a:solidFill>
                <a:latin typeface="Arial"/>
              </a:defRPr>
            </a:pPr>
            <a:r>
              <a:t>including this page.</a:t>
            </a:r>
          </a:p>
        </p:txBody>
      </p:sp>
      <p:sp>
        <p:nvSpPr>
          <p:cNvPr id="7" name="Costs unavailable. No forecast or confidence interval was supplied."/>
          <p:cNvSpPr txBox="1"/>
          <p:nvPr/>
        </p:nvSpPr>
        <p:spPr>
          <a:xfrm>
            <a:off x="4617720" y="3246120"/>
            <a:ext cx="66751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100" b="0">
                <a:solidFill>
                  <a:srgbClr val="172B3B"/>
                </a:solidFill>
                <a:latin typeface="Arial"/>
              </a:defRPr>
            </a:pPr>
            <a:r>
              <a:t>Costs unavailable.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3100" b="0">
                <a:solidFill>
                  <a:srgbClr val="172B3B"/>
                </a:solidFill>
                <a:latin typeface="Arial"/>
              </a:defRPr>
            </a:pPr>
            <a:r>
              <a:t>No forecast or confidence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3100" b="0">
                <a:solidFill>
                  <a:srgbClr val="172B3B"/>
                </a:solidFill>
                <a:latin typeface="Arial"/>
              </a:defRPr>
            </a:pPr>
            <a:r>
              <a:t>interval was supplied.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200">
    <p:fade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Aster service review</dc:title>
  <dc:subject>Synthetic service review</dc:subject>
  <dc:creator>Aster Fieldworks</dc:creator>
  <cp:keywords/>
  <dc:description>generated using python-pptx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/>
</cp:coreProperties>
</file>