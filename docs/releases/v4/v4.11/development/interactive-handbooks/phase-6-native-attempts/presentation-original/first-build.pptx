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B5632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Central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10.0</c:v>
                </c:pt>
                <c:pt idx="1">
                  <c:v>15.0</c:v>
                </c:pt>
                <c:pt idx="2">
                  <c:v>20.0</c:v>
                </c:pt>
              </c:numCache>
            </c:numRef>
          </c:val>
        </c:ser>
        <c:dLbls>
          <c:txPr>
            <a:bodyPr/>
            <a:lstStyle/>
            <a:p>
              <a:pPr>
                <a:defRPr sz="2300">
                  <a:solidFill>
                    <a:srgbClr val="172B3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2100">
                <a:solidFill>
                  <a:srgbClr val="172B3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 w="6350">
              <a:solidFill>
                <a:srgbClr val="465865"/>
              </a:solidFill>
            </a:ln>
          </c:spPr>
        </c:majorGridlines>
        <c:majorTickMark val="none"/>
        <c:minorTickMark val="none"/>
        <c:tickLblPos val="nextTo"/>
        <c:txPr>
          <a:bodyPr/>
          <a:lstStyle/>
          <a:p>
            <a:pPr>
              <a:defRPr sz="1800">
                <a:solidFill>
                  <a:srgbClr val="172B3B"/>
                </a:solidFill>
                <a:latin typeface="Arial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2000">
          <a:solidFill>
            <a:srgbClr val="172B3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mark: original four-point contours"/>
          <p:cNvSpPr/>
          <p:nvPr/>
        </p:nvSpPr>
        <p:spPr>
          <a:xfrm>
            <a:off x="9475927" y="377647"/>
            <a:ext cx="301752" cy="362103"/>
          </a:xfrm>
          <a:custGeom>
            <a:avLst/>
            <a:gdLst/>
            <a:ahLst/>
            <a:cxnLst/>
            <a:rect l="l" t="t" r="r" b="b"/>
            <a:pathLst>
              <a:path w="301752" h="362103">
                <a:moveTo>
                  <a:pt x="0" y="181051"/>
                </a:moveTo>
                <a:lnTo>
                  <a:pt x="150876" y="0"/>
                </a:lnTo>
                <a:lnTo>
                  <a:pt x="301752" y="181051"/>
                </a:lnTo>
                <a:lnTo>
                  <a:pt x="150876" y="362103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 wordmark: original Arial"/>
          <p:cNvSpPr txBox="1"/>
          <p:nvPr/>
        </p:nvSpPr>
        <p:spPr>
          <a:xfrm>
            <a:off x="9880274" y="456102"/>
            <a:ext cx="1979493" cy="2414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72B3B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685800" y="1737360"/>
            <a:ext cx="69494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172B3B"/>
                </a:solidFill>
                <a:latin typeface="Arial"/>
              </a:defRPr>
            </a:pPr>
            <a:r>
              <a:t>Aster service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172B3B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6492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72B3B"/>
                </a:solidFill>
                <a:latin typeface="Arial"/>
              </a:defRPr>
            </a:pPr>
            <a:r>
              <a:t>Synthetic field service results;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72B3B"/>
                </a:solidFill>
                <a:latin typeface="Arial"/>
              </a:defRPr>
            </a:pPr>
            <a:r>
              <a:t>no real customer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2057400"/>
            <a:ext cx="16459" cy="2560320"/>
          </a:xfrm>
          <a:prstGeom prst="rect">
            <a:avLst/>
          </a:prstGeom>
          <a:solidFill>
            <a:srgbClr val="17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2148840"/>
            <a:ext cx="25603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200" b="1">
                <a:solidFill>
                  <a:srgbClr val="172B3B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370332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72B3B"/>
                </a:solidFill>
                <a:latin typeface="Arial"/>
              </a:defRPr>
            </a:pPr>
            <a:r>
              <a:t>completed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72B3B"/>
                </a:solidFill>
                <a:latin typeface="Arial"/>
              </a:defRPr>
            </a:pPr>
            <a:r>
              <a:t>visits</a:t>
            </a:r>
          </a:p>
        </p:txBody>
      </p:sp>
    </p:spTree>
  </p:cSld>
  <p:transition xmlns:ns0="http://schemas.microsoft.com/office/powerpoint/2010/main" spd="fast" ns0:dur="200">
    <p:fade thruBlk="0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mark: original four-point contours"/>
          <p:cNvSpPr/>
          <p:nvPr/>
        </p:nvSpPr>
        <p:spPr>
          <a:xfrm>
            <a:off x="9475927" y="377647"/>
            <a:ext cx="301752" cy="362103"/>
          </a:xfrm>
          <a:custGeom>
            <a:avLst/>
            <a:gdLst/>
            <a:ahLst/>
            <a:cxnLst/>
            <a:rect l="l" t="t" r="r" b="b"/>
            <a:pathLst>
              <a:path w="301752" h="362103">
                <a:moveTo>
                  <a:pt x="0" y="181051"/>
                </a:moveTo>
                <a:lnTo>
                  <a:pt x="150876" y="0"/>
                </a:lnTo>
                <a:lnTo>
                  <a:pt x="301752" y="181051"/>
                </a:lnTo>
                <a:lnTo>
                  <a:pt x="150876" y="362103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 wordmark: original Arial"/>
          <p:cNvSpPr txBox="1"/>
          <p:nvPr/>
        </p:nvSpPr>
        <p:spPr>
          <a:xfrm>
            <a:off x="9880274" y="456102"/>
            <a:ext cx="1979493" cy="2414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F7F3E9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731520" y="246888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7F3E9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50876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D4D8D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72184"/>
            <a:ext cx="5577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7F3E9"/>
                </a:solidFill>
                <a:latin typeface="Arial"/>
              </a:defRPr>
            </a:pPr>
            <a:r>
              <a:t>Service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2276856"/>
            <a:ext cx="6675120" cy="10972"/>
          </a:xfrm>
          <a:prstGeom prst="rect">
            <a:avLst/>
          </a:prstGeom>
          <a:solidFill>
            <a:srgbClr val="D4D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6974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D4D8D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660904"/>
            <a:ext cx="5577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7F3E9"/>
                </a:solidFill>
                <a:latin typeface="Arial"/>
              </a:defRPr>
            </a:pPr>
            <a:r>
              <a:t>Completed visits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3465576"/>
            <a:ext cx="6675120" cy="10972"/>
          </a:xfrm>
          <a:prstGeom prst="rect">
            <a:avLst/>
          </a:prstGeom>
          <a:solidFill>
            <a:srgbClr val="D4D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8862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D4D8D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849624"/>
            <a:ext cx="5577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7F3E9"/>
                </a:solidFill>
                <a:latin typeface="Arial"/>
              </a:defRPr>
            </a:pPr>
            <a:r>
              <a:t>Boundaries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654296"/>
            <a:ext cx="6675120" cy="10972"/>
          </a:xfrm>
          <a:prstGeom prst="rect">
            <a:avLst/>
          </a:prstGeom>
          <a:solidFill>
            <a:srgbClr val="D4D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0="http://schemas.microsoft.com/office/powerpoint/2010/main" spd="fast" ns0:dur="200">
    <p:fade thruBlk="0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mark: original four-point contours"/>
          <p:cNvSpPr/>
          <p:nvPr/>
        </p:nvSpPr>
        <p:spPr>
          <a:xfrm>
            <a:off x="9475927" y="377647"/>
            <a:ext cx="301752" cy="362103"/>
          </a:xfrm>
          <a:custGeom>
            <a:avLst/>
            <a:gdLst/>
            <a:ahLst/>
            <a:cxnLst/>
            <a:rect l="l" t="t" r="r" b="b"/>
            <a:pathLst>
              <a:path w="301752" h="362103">
                <a:moveTo>
                  <a:pt x="0" y="181051"/>
                </a:moveTo>
                <a:lnTo>
                  <a:pt x="150876" y="0"/>
                </a:lnTo>
                <a:lnTo>
                  <a:pt x="301752" y="181051"/>
                </a:lnTo>
                <a:lnTo>
                  <a:pt x="150876" y="362103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 wordmark: original Arial"/>
          <p:cNvSpPr txBox="1"/>
          <p:nvPr/>
        </p:nvSpPr>
        <p:spPr>
          <a:xfrm>
            <a:off x="9880274" y="456102"/>
            <a:ext cx="1979493" cy="2414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72B3B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731520" y="105156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72B3B"/>
                </a:solidFill>
                <a:latin typeface="Arial"/>
              </a:defRPr>
            </a:pPr>
            <a:r>
              <a:t>Service path</a:t>
            </a:r>
          </a:p>
        </p:txBody>
      </p:sp>
      <p:sp>
        <p:nvSpPr>
          <p:cNvPr id="5" name="Request"/>
          <p:cNvSpPr/>
          <p:nvPr/>
        </p:nvSpPr>
        <p:spPr>
          <a:xfrm>
            <a:off x="731520" y="2560320"/>
            <a:ext cx="2286000" cy="868680"/>
          </a:xfrm>
          <a:prstGeom prst="rect">
            <a:avLst/>
          </a:prstGeom>
          <a:solidFill>
            <a:srgbClr val="EEE9DE"/>
          </a:solidFill>
          <a:ln w="19050">
            <a:solidFill>
              <a:srgbClr val="465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72B3B"/>
                </a:solidFill>
                <a:latin typeface="Arial"/>
              </a:defRPr>
            </a:pPr>
            <a:r>
              <a:t>Request</a:t>
            </a:r>
          </a:p>
        </p:txBody>
      </p:sp>
      <p:cxnSp>
        <p:nvCxnSpPr>
          <p:cNvPr id="6" name="Request -&gt; Dispatch"/>
          <p:cNvCxnSpPr/>
          <p:nvPr/>
        </p:nvCxnSpPr>
        <p:spPr>
          <a:xfrm>
            <a:off x="3017520" y="2994660"/>
            <a:ext cx="475488" cy="0"/>
          </a:xfrm>
          <a:prstGeom prst="line">
            <a:avLst/>
          </a:prstGeom>
          <a:ln w="31750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ispatch"/>
          <p:cNvSpPr/>
          <p:nvPr/>
        </p:nvSpPr>
        <p:spPr>
          <a:xfrm>
            <a:off x="3493008" y="2560320"/>
            <a:ext cx="2286000" cy="868680"/>
          </a:xfrm>
          <a:prstGeom prst="rect">
            <a:avLst/>
          </a:prstGeom>
          <a:solidFill>
            <a:srgbClr val="EEE9DE"/>
          </a:solidFill>
          <a:ln w="19050">
            <a:solidFill>
              <a:srgbClr val="465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72B3B"/>
                </a:solidFill>
                <a:latin typeface="Arial"/>
              </a:defRPr>
            </a:pPr>
            <a:r>
              <a:t>Dispatch</a:t>
            </a:r>
          </a:p>
        </p:txBody>
      </p:sp>
      <p:cxnSp>
        <p:nvCxnSpPr>
          <p:cNvPr id="8" name="Dispatch -&gt; Field visit"/>
          <p:cNvCxnSpPr/>
          <p:nvPr/>
        </p:nvCxnSpPr>
        <p:spPr>
          <a:xfrm>
            <a:off x="5779008" y="2994660"/>
            <a:ext cx="475488" cy="0"/>
          </a:xfrm>
          <a:prstGeom prst="line">
            <a:avLst/>
          </a:prstGeom>
          <a:ln w="31750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ield visit"/>
          <p:cNvSpPr/>
          <p:nvPr/>
        </p:nvSpPr>
        <p:spPr>
          <a:xfrm>
            <a:off x="6254496" y="2560320"/>
            <a:ext cx="2286000" cy="868680"/>
          </a:xfrm>
          <a:prstGeom prst="rect">
            <a:avLst/>
          </a:prstGeom>
          <a:solidFill>
            <a:srgbClr val="EEE9DE"/>
          </a:solidFill>
          <a:ln w="19050">
            <a:solidFill>
              <a:srgbClr val="465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72B3B"/>
                </a:solidFill>
                <a:latin typeface="Arial"/>
              </a:defRPr>
            </a:pPr>
            <a:r>
              <a:t>Field visit</a:t>
            </a:r>
          </a:p>
        </p:txBody>
      </p:sp>
      <p:cxnSp>
        <p:nvCxnSpPr>
          <p:cNvPr id="10" name="Field visit -&gt; Review"/>
          <p:cNvCxnSpPr/>
          <p:nvPr/>
        </p:nvCxnSpPr>
        <p:spPr>
          <a:xfrm>
            <a:off x="8540496" y="2994660"/>
            <a:ext cx="475488" cy="0"/>
          </a:xfrm>
          <a:prstGeom prst="line">
            <a:avLst/>
          </a:prstGeom>
          <a:ln w="31750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iew"/>
          <p:cNvSpPr/>
          <p:nvPr/>
        </p:nvSpPr>
        <p:spPr>
          <a:xfrm>
            <a:off x="9015984" y="2560320"/>
            <a:ext cx="2286000" cy="868680"/>
          </a:xfrm>
          <a:prstGeom prst="rect">
            <a:avLst/>
          </a:prstGeom>
          <a:solidFill>
            <a:srgbClr val="EEE9DE"/>
          </a:solidFill>
          <a:ln w="19050">
            <a:solidFill>
              <a:srgbClr val="465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72B3B"/>
                </a:solidFill>
                <a:latin typeface="Arial"/>
              </a:defRPr>
            </a:pPr>
            <a:r>
              <a:t>Review</a:t>
            </a:r>
          </a:p>
        </p:txBody>
      </p:sp>
      <p:cxnSp>
        <p:nvCxnSpPr>
          <p:cNvPr id="12" name="Review -&gt; Dispatch (failed review)"/>
          <p:cNvCxnSpPr/>
          <p:nvPr/>
        </p:nvCxnSpPr>
        <p:spPr>
          <a:xfrm>
            <a:off x="4636008" y="3429000"/>
            <a:ext cx="5522976" cy="1417320"/>
          </a:xfrm>
          <a:custGeom>
            <a:avLst/>
            <a:gdLst/>
            <a:ahLst/>
            <a:cxnLst/>
            <a:rect l="0" t="0" r="r" b="b"/>
            <a:pathLst>
              <a:path w="1000" h="300" fill="none">
                <a:moveTo>
                  <a:pt x="1000" y="0"/>
                </a:moveTo>
                <a:cubicBezTo>
                  <a:pt x="1000" y="300"/>
                  <a:pt x="0" y="300"/>
                  <a:pt x="0" y="0"/>
                </a:cubicBezTo>
              </a:path>
            </a:pathLst>
          </a:custGeom>
          <a:ln w="31750">
            <a:solidFill>
              <a:srgbClr val="B563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12080" y="48463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B3B"/>
                </a:solidFill>
                <a:latin typeface="Arial"/>
              </a:defRPr>
            </a:pPr>
            <a:r>
              <a:t>Failed review returns to Dispatch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B3B"/>
                </a:solidFill>
                <a:latin typeface="Arial"/>
              </a:defRPr>
            </a:pPr>
            <a:r>
              <a:t>A failed review returns to Dispatch.</a:t>
            </a:r>
          </a:p>
        </p:txBody>
      </p:sp>
    </p:spTree>
  </p:cSld>
  <p:transition xmlns:ns0="http://schemas.microsoft.com/office/powerpoint/2010/main" spd="fast" ns0:dur="200">
    <p:fade thruBlk="0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mark: original four-point contours"/>
          <p:cNvSpPr/>
          <p:nvPr/>
        </p:nvSpPr>
        <p:spPr>
          <a:xfrm>
            <a:off x="9475927" y="377647"/>
            <a:ext cx="301752" cy="362103"/>
          </a:xfrm>
          <a:custGeom>
            <a:avLst/>
            <a:gdLst/>
            <a:ahLst/>
            <a:cxnLst/>
            <a:rect l="l" t="t" r="r" b="b"/>
            <a:pathLst>
              <a:path w="301752" h="362103">
                <a:moveTo>
                  <a:pt x="0" y="181051"/>
                </a:moveTo>
                <a:lnTo>
                  <a:pt x="150876" y="0"/>
                </a:lnTo>
                <a:lnTo>
                  <a:pt x="301752" y="181051"/>
                </a:lnTo>
                <a:lnTo>
                  <a:pt x="150876" y="362103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 wordmark: original Arial"/>
          <p:cNvSpPr txBox="1"/>
          <p:nvPr/>
        </p:nvSpPr>
        <p:spPr>
          <a:xfrm>
            <a:off x="9880274" y="456102"/>
            <a:ext cx="1979493" cy="2414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72B3B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731520" y="96012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72B3B"/>
                </a:solidFill>
                <a:latin typeface="Arial"/>
              </a:defRPr>
            </a:pPr>
            <a:r>
              <a:t>Completed visits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27432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172B3B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2102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72B3B"/>
                </a:solidFill>
                <a:latin typeface="Arial"/>
              </a:defRPr>
            </a:pPr>
            <a:r>
              <a:t>Total visits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9028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72B3B"/>
                </a:solidFill>
                <a:latin typeface="Arial"/>
              </a:defRPr>
            </a:pPr>
            <a:r>
              <a:t>These are counts,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72B3B"/>
                </a:solidFill>
                <a:latin typeface="Arial"/>
              </a:defRPr>
            </a:pPr>
            <a:r>
              <a:t>not rates.</a:t>
            </a:r>
          </a:p>
        </p:txBody>
      </p:sp>
      <p:graphicFrame>
        <p:nvGraphicFramePr>
          <p:cNvPr id="8" name="Completed visits: editable native series"/>
          <p:cNvGraphicFramePr>
            <a:graphicFrameLocks noGrp="1"/>
          </p:cNvGraphicFramePr>
          <p:nvPr/>
        </p:nvGraphicFramePr>
        <p:xfrm>
          <a:off x="3703320" y="1828800"/>
          <a:ext cx="76352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0" y="60350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3B"/>
                </a:solidFill>
                <a:latin typeface="Arial"/>
              </a:defRPr>
            </a:pPr>
            <a:r>
              <a:t>Visits</a:t>
            </a:r>
          </a:p>
        </p:txBody>
      </p:sp>
    </p:spTree>
  </p:cSld>
  <p:transition xmlns:ns0="http://schemas.microsoft.com/office/powerpoint/2010/main" spd="fast" ns0:dur="200">
    <p:fade thruBlk="0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mark: original four-point contours"/>
          <p:cNvSpPr/>
          <p:nvPr/>
        </p:nvSpPr>
        <p:spPr>
          <a:xfrm>
            <a:off x="9475927" y="377647"/>
            <a:ext cx="301752" cy="362103"/>
          </a:xfrm>
          <a:custGeom>
            <a:avLst/>
            <a:gdLst/>
            <a:ahLst/>
            <a:cxnLst/>
            <a:rect l="l" t="t" r="r" b="b"/>
            <a:pathLst>
              <a:path w="301752" h="362103">
                <a:moveTo>
                  <a:pt x="0" y="181051"/>
                </a:moveTo>
                <a:lnTo>
                  <a:pt x="150876" y="0"/>
                </a:lnTo>
                <a:lnTo>
                  <a:pt x="301752" y="181051"/>
                </a:lnTo>
                <a:lnTo>
                  <a:pt x="150876" y="362103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 wordmark: original Arial"/>
          <p:cNvSpPr txBox="1"/>
          <p:nvPr/>
        </p:nvSpPr>
        <p:spPr>
          <a:xfrm>
            <a:off x="9880274" y="456102"/>
            <a:ext cx="1979493" cy="2414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F7F3E9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731520" y="19659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7F3E9"/>
                </a:solidFill>
                <a:latin typeface="Arial"/>
              </a:defRPr>
            </a:pPr>
            <a:r>
              <a:t>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17373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7F3E9"/>
                </a:solidFill>
                <a:latin typeface="Arial"/>
              </a:defRPr>
            </a:pPr>
            <a:r>
              <a:t>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D4D8D5"/>
                </a:solidFill>
                <a:latin typeface="Arial"/>
              </a:defRPr>
            </a:pPr>
            <a:r>
              <a:t>Unavailable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2368296"/>
            <a:ext cx="6217920" cy="10972"/>
          </a:xfrm>
          <a:prstGeom prst="rect">
            <a:avLst/>
          </a:prstGeom>
          <a:solidFill>
            <a:srgbClr val="D4D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2688336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7F3E9"/>
                </a:solidFill>
                <a:latin typeface="Arial"/>
              </a:defRPr>
            </a:pPr>
            <a:r>
              <a:t>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6883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D4D8D5"/>
                </a:solidFill>
                <a:latin typeface="Arial"/>
              </a:defRPr>
            </a:pPr>
            <a:r>
              <a:t>Not supplied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3319272"/>
            <a:ext cx="6217920" cy="10972"/>
          </a:xfrm>
          <a:prstGeom prst="rect">
            <a:avLst/>
          </a:prstGeom>
          <a:solidFill>
            <a:srgbClr val="D4D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363931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7F3E9"/>
                </a:solidFill>
                <a:latin typeface="Arial"/>
              </a:defRPr>
            </a:pPr>
            <a:r>
              <a:t>Confidence interval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393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D4D8D5"/>
                </a:solidFill>
                <a:latin typeface="Arial"/>
              </a:defRPr>
            </a:pPr>
            <a:r>
              <a:t>Not supplied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4270248"/>
            <a:ext cx="6217920" cy="10972"/>
          </a:xfrm>
          <a:prstGeom prst="rect">
            <a:avLst/>
          </a:prstGeom>
          <a:solidFill>
            <a:srgbClr val="D4D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7F3E9"/>
                </a:solidFill>
                <a:latin typeface="Arial"/>
              </a:defRPr>
            </a:pPr>
            <a:r>
              <a:t>Five source slides including this page.</a:t>
            </a:r>
          </a:p>
        </p:txBody>
      </p:sp>
    </p:spTree>
  </p:cSld>
  <p:transition xmlns:ns0="http://schemas.microsoft.com/office/powerpoint/2010/main" spd="fast" ns0:dur="200">
    <p:fade thruBlk="0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Aster service review</dc:title>
  <dc:subject>Synthetic field service review</dc:subject>
  <dc:creator>Aster Fieldworks</dc:creator>
  <cp:keywords/>
  <dc:description>generated using python-pptx</dc:description>
  <cp:lastModifiedBy>Aster Fieldworks</cp:lastModifiedBy>
  <cp:revision>1</cp:revision>
  <dcterms:created xsi:type="dcterms:W3CDTF">2026-09-09T00:00:00Z</dcterms:created>
  <dcterms:modified xsi:type="dcterms:W3CDTF">2026-09-09T00:00:00Z</dcterms:modified>
  <cp:category/>
</cp:coreProperties>
</file>