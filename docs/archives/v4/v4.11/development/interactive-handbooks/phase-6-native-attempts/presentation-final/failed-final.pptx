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Visits</c:v>
                </c:pt>
              </c:strCache>
            </c:strRef>
          </c:tx>
          <c:spPr>
            <a:solidFill>
              <a:srgbClr val="E2A27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East</c:v>
                </c:pt>
                <c:pt idx="1">
                  <c:v>Central</c:v>
                </c:pt>
                <c:pt idx="2">
                  <c:v>West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10.0</c:v>
                </c:pt>
                <c:pt idx="1">
                  <c:v>15.0</c:v>
                </c:pt>
                <c:pt idx="2">
                  <c:v>20.0</c:v>
                </c:pt>
              </c:numCache>
            </c:numRef>
          </c:val>
        </c:ser>
        <c:dLbls>
          <c:txPr>
            <a:bodyPr/>
            <a:lstStyle/>
            <a:p>
              <a:pPr>
                <a:defRPr sz="2200">
                  <a:solidFill>
                    <a:srgbClr val="F7F3E9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71818B"/>
            </a:solidFill>
          </a:ln>
        </c:spPr>
        <c:txPr>
          <a:bodyPr/>
          <a:lstStyle/>
          <a:p>
            <a:pPr>
              <a:defRPr sz="2000">
                <a:solidFill>
                  <a:srgbClr val="F7F3E9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.0"/>
          <c:min val="0.0"/>
        </c:scaling>
        <c:delete val="0"/>
        <c:axPos val="l"/>
        <c:majorGridlines>
          <c:spPr>
            <a:ln>
              <a:solidFill>
                <a:srgbClr val="536674"/>
              </a:solidFill>
            </a:ln>
          </c:spPr>
        </c:majorGridlines>
        <c:majorTickMark val="none"/>
        <c:minorTickMark val="none"/>
        <c:tickLblPos val="nextTo"/>
        <c:spPr>
          <a:ln>
            <a:solidFill>
              <a:srgbClr val="71818B"/>
            </a:solidFill>
          </a:ln>
        </c:spPr>
        <c:txPr>
          <a:bodyPr/>
          <a:lstStyle/>
          <a:p>
            <a:pPr>
              <a:defRPr sz="2000">
                <a:solidFill>
                  <a:srgbClr val="F7F3E9"/>
                </a:solidFill>
                <a:latin typeface="Arial"/>
              </a:defRPr>
            </a:pPr>
          </a:p>
        </c:txPr>
        <c:crossAx val="-2068027336"/>
        <c:crosses val="autoZero"/>
        <c:majorUnit val="5.0"/>
      </c:valAx>
      <c:spPr>
        <a:solidFill>
          <a:srgbClr val="172B3B"/>
        </a:solidFill>
        <a:ln>
          <a:noFill/>
        </a:ln>
      </c:spPr>
    </c:plotArea>
    <c:legend>
      <c:legendPos val="b"/>
      <c:overlay val="0"/>
      <c:txPr>
        <a:bodyPr/>
        <a:lstStyle/>
        <a:p>
          <a:pPr>
            <a:defRPr sz="1800">
              <a:solidFill>
                <a:srgbClr val="F7F3E9"/>
              </a:solidFill>
              <a:latin typeface="Arial"/>
            </a:defRPr>
          </a:pPr>
        </a:p>
      </c:txPr>
    </c:legend>
    <c:dispBlanksAs val="gap"/>
  </c:chart>
  <c:spPr>
    <a:solidFill>
      <a:srgbClr val="172B3B"/>
    </a:solidFill>
    <a:ln>
      <a:noFill/>
    </a:ln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over">
    <p:bg>
      <p:bgPr>
        <a:solidFill>
          <a:srgbClr val="172B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ster original mark contours"/>
          <p:cNvSpPr/>
          <p:nvPr/>
        </p:nvSpPr>
        <p:spPr>
          <a:xfrm>
            <a:off x="721804" y="538924"/>
            <a:ext cx="360045" cy="432054"/>
          </a:xfrm>
          <a:custGeom>
            <a:avLst/>
            <a:gdLst/>
            <a:ahLst/>
            <a:cxnLst/>
            <a:rect l="l" t="t" r="r" b="b"/>
            <a:pathLst>
              <a:path w="50" h="60">
                <a:moveTo>
                  <a:pt x="0" y="30"/>
                </a:moveTo>
                <a:lnTo>
                  <a:pt x="25" y="0"/>
                </a:lnTo>
                <a:lnTo>
                  <a:pt x="50" y="30"/>
                </a:lnTo>
                <a:lnTo>
                  <a:pt x="25" y="60"/>
                </a:lnTo>
                <a:close/>
              </a:path>
            </a:pathLst>
          </a:custGeom>
          <a:solidFill>
            <a:srgbClr val="B56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ster supplied Arial wordmark"/>
          <p:cNvSpPr txBox="1"/>
          <p:nvPr/>
        </p:nvSpPr>
        <p:spPr>
          <a:xfrm>
            <a:off x="1204264" y="610933"/>
            <a:ext cx="2361895" cy="324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1701" b="0">
                <a:solidFill>
                  <a:srgbClr val="F7F3E9"/>
                </a:solidFill>
                <a:latin typeface="Arial"/>
              </a:defRPr>
            </a:pPr>
            <a:r>
              <a:t>Aster Fieldworks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ster&#10;service review"/>
          <p:cNvSpPr txBox="1"/>
          <p:nvPr/>
        </p:nvSpPr>
        <p:spPr>
          <a:xfrm>
            <a:off x="731520" y="1828800"/>
            <a:ext cx="98755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6200" b="1">
                <a:solidFill>
                  <a:srgbClr val="F7F3E9"/>
                </a:solidFill>
                <a:latin typeface="Arial"/>
              </a:defRPr>
            </a:pPr>
            <a:r>
              <a:t>Aster</a:t>
            </a:r>
          </a:p>
          <a:p>
            <a:pPr algn="l">
              <a:spcAft>
                <a:spcPts val="1000"/>
              </a:spcAft>
              <a:defRPr sz="6200" b="1">
                <a:solidFill>
                  <a:srgbClr val="F7F3E9"/>
                </a:solidFill>
                <a:latin typeface="Arial"/>
              </a:defRPr>
            </a:pPr>
            <a:r>
              <a:t>service review</a:t>
            </a:r>
          </a:p>
        </p:txBody>
      </p:sp>
      <p:sp>
        <p:nvSpPr>
          <p:cNvPr id="6" name="Field service"/>
          <p:cNvSpPr txBox="1"/>
          <p:nvPr/>
        </p:nvSpPr>
        <p:spPr>
          <a:xfrm>
            <a:off x="768096" y="4325112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2200" b="1">
                <a:solidFill>
                  <a:srgbClr val="E2A276"/>
                </a:solidFill>
                <a:latin typeface="Arial"/>
              </a:defRPr>
            </a:pPr>
            <a:r>
              <a:t>Field service</a:t>
            </a:r>
          </a:p>
        </p:txBody>
      </p:sp>
      <p:sp>
        <p:nvSpPr>
          <p:cNvPr id="7" name="Synthetic field service results; no real customer data."/>
          <p:cNvSpPr txBox="1"/>
          <p:nvPr/>
        </p:nvSpPr>
        <p:spPr>
          <a:xfrm>
            <a:off x="768096" y="4983480"/>
            <a:ext cx="978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2500" b="0">
                <a:solidFill>
                  <a:srgbClr val="F7F3E9"/>
                </a:solidFill>
                <a:latin typeface="Arial"/>
              </a:defRPr>
            </a:pPr>
            <a:r>
              <a:t>Synthetic field service results; no real customer data.</a:t>
            </a:r>
          </a:p>
        </p:txBody>
      </p:sp>
    </p:spTree>
  </p:cSld>
  <p:clrMapOvr>
    <a:masterClrMapping/>
  </p:clrMapOvr>
  <p:transition xmlns:ns0="http://schemas.microsoft.com/office/powerpoint/2010/main" spd="fast" ns0:dur="200">
    <p:fade thruBlk="0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agenda"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ster original mark contours"/>
          <p:cNvSpPr/>
          <p:nvPr/>
        </p:nvSpPr>
        <p:spPr>
          <a:xfrm>
            <a:off x="9047416" y="397192"/>
            <a:ext cx="314325" cy="377190"/>
          </a:xfrm>
          <a:custGeom>
            <a:avLst/>
            <a:gdLst/>
            <a:ahLst/>
            <a:cxnLst/>
            <a:rect l="l" t="t" r="r" b="b"/>
            <a:pathLst>
              <a:path w="50" h="60">
                <a:moveTo>
                  <a:pt x="0" y="30"/>
                </a:moveTo>
                <a:lnTo>
                  <a:pt x="25" y="0"/>
                </a:lnTo>
                <a:lnTo>
                  <a:pt x="50" y="30"/>
                </a:lnTo>
                <a:lnTo>
                  <a:pt x="25" y="60"/>
                </a:lnTo>
                <a:close/>
              </a:path>
            </a:pathLst>
          </a:custGeom>
          <a:solidFill>
            <a:srgbClr val="B56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ster supplied Arial wordmark"/>
          <p:cNvSpPr txBox="1"/>
          <p:nvPr/>
        </p:nvSpPr>
        <p:spPr>
          <a:xfrm>
            <a:off x="9468611" y="460057"/>
            <a:ext cx="2061972" cy="282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1485" b="0">
                <a:solidFill>
                  <a:srgbClr val="172B3B"/>
                </a:solidFill>
                <a:latin typeface="Arial"/>
              </a:defRPr>
            </a:pPr>
            <a:r>
              <a:t>Aster Fieldworks</a:t>
            </a:r>
          </a:p>
        </p:txBody>
      </p:sp>
      <p:sp>
        <p:nvSpPr>
          <p:cNvPr id="4" name="Agenda"/>
          <p:cNvSpPr txBox="1"/>
          <p:nvPr/>
        </p:nvSpPr>
        <p:spPr>
          <a:xfrm>
            <a:off x="685800" y="155448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4600" b="1">
                <a:solidFill>
                  <a:srgbClr val="172B3B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5" name="01"/>
          <p:cNvSpPr txBox="1"/>
          <p:nvPr/>
        </p:nvSpPr>
        <p:spPr>
          <a:xfrm>
            <a:off x="4572000" y="137160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2200" b="1">
                <a:solidFill>
                  <a:srgbClr val="8C481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Service path"/>
          <p:cNvSpPr txBox="1"/>
          <p:nvPr/>
        </p:nvSpPr>
        <p:spPr>
          <a:xfrm>
            <a:off x="5358384" y="137160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3000" b="0">
                <a:solidFill>
                  <a:srgbClr val="172B3B"/>
                </a:solidFill>
                <a:latin typeface="Arial"/>
              </a:defRPr>
            </a:pPr>
            <a:r>
              <a:t>Service path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2286000"/>
            <a:ext cx="6812280" cy="13716"/>
          </a:xfrm>
          <a:prstGeom prst="rect">
            <a:avLst/>
          </a:prstGeom>
          <a:solidFill>
            <a:srgbClr val="BBA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02"/>
          <p:cNvSpPr txBox="1"/>
          <p:nvPr/>
        </p:nvSpPr>
        <p:spPr>
          <a:xfrm>
            <a:off x="4572000" y="2715768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2200" b="1">
                <a:solidFill>
                  <a:srgbClr val="8C481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9" name="Completed visits"/>
          <p:cNvSpPr txBox="1"/>
          <p:nvPr/>
        </p:nvSpPr>
        <p:spPr>
          <a:xfrm>
            <a:off x="5358384" y="2715768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3000" b="0">
                <a:solidFill>
                  <a:srgbClr val="172B3B"/>
                </a:solidFill>
                <a:latin typeface="Arial"/>
              </a:defRPr>
            </a:pPr>
            <a:r>
              <a:t>Completed visits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3630168"/>
            <a:ext cx="6812280" cy="13716"/>
          </a:xfrm>
          <a:prstGeom prst="rect">
            <a:avLst/>
          </a:prstGeom>
          <a:solidFill>
            <a:srgbClr val="BBA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03"/>
          <p:cNvSpPr txBox="1"/>
          <p:nvPr/>
        </p:nvSpPr>
        <p:spPr>
          <a:xfrm>
            <a:off x="4572000" y="4059935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2200" b="1">
                <a:solidFill>
                  <a:srgbClr val="8C481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2" name="Boundaries"/>
          <p:cNvSpPr txBox="1"/>
          <p:nvPr/>
        </p:nvSpPr>
        <p:spPr>
          <a:xfrm>
            <a:off x="5358384" y="4059935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3000" b="0">
                <a:solidFill>
                  <a:srgbClr val="172B3B"/>
                </a:solidFill>
                <a:latin typeface="Arial"/>
              </a:defRPr>
            </a:pPr>
            <a:r>
              <a:t>Boundaries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4974336"/>
            <a:ext cx="6812280" cy="13716"/>
          </a:xfrm>
          <a:prstGeom prst="rect">
            <a:avLst/>
          </a:prstGeom>
          <a:solidFill>
            <a:srgbClr val="BBA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ns0="http://schemas.microsoft.com/office/powerpoint/2010/main" spd="fast" ns0:dur="200">
    <p:fade thruBlk="0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ervice-path"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ster original mark contours"/>
          <p:cNvSpPr/>
          <p:nvPr/>
        </p:nvSpPr>
        <p:spPr>
          <a:xfrm>
            <a:off x="9047416" y="397192"/>
            <a:ext cx="314325" cy="377190"/>
          </a:xfrm>
          <a:custGeom>
            <a:avLst/>
            <a:gdLst/>
            <a:ahLst/>
            <a:cxnLst/>
            <a:rect l="l" t="t" r="r" b="b"/>
            <a:pathLst>
              <a:path w="50" h="60">
                <a:moveTo>
                  <a:pt x="0" y="30"/>
                </a:moveTo>
                <a:lnTo>
                  <a:pt x="25" y="0"/>
                </a:lnTo>
                <a:lnTo>
                  <a:pt x="50" y="30"/>
                </a:lnTo>
                <a:lnTo>
                  <a:pt x="25" y="60"/>
                </a:lnTo>
                <a:close/>
              </a:path>
            </a:pathLst>
          </a:custGeom>
          <a:solidFill>
            <a:srgbClr val="B56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ster supplied Arial wordmark"/>
          <p:cNvSpPr txBox="1"/>
          <p:nvPr/>
        </p:nvSpPr>
        <p:spPr>
          <a:xfrm>
            <a:off x="9468611" y="460057"/>
            <a:ext cx="2061972" cy="282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1485" b="0">
                <a:solidFill>
                  <a:srgbClr val="172B3B"/>
                </a:solidFill>
                <a:latin typeface="Arial"/>
              </a:defRPr>
            </a:pPr>
            <a:r>
              <a:t>Aster Fieldworks</a:t>
            </a:r>
          </a:p>
        </p:txBody>
      </p:sp>
      <p:sp>
        <p:nvSpPr>
          <p:cNvPr id="4" name="Service path"/>
          <p:cNvSpPr txBox="1"/>
          <p:nvPr/>
        </p:nvSpPr>
        <p:spPr>
          <a:xfrm>
            <a:off x="685800" y="777240"/>
            <a:ext cx="7315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4200" b="1">
                <a:solidFill>
                  <a:srgbClr val="172B3B"/>
                </a:solidFill>
                <a:latin typeface="Arial"/>
              </a:defRPr>
            </a:pPr>
            <a:r>
              <a:t>Service path</a:t>
            </a:r>
          </a:p>
        </p:txBody>
      </p:sp>
      <p:sp>
        <p:nvSpPr>
          <p:cNvPr id="5" name="Request -&gt; Dispatch -&gt; Field visit -&gt; Review"/>
          <p:cNvSpPr txBox="1"/>
          <p:nvPr/>
        </p:nvSpPr>
        <p:spPr>
          <a:xfrm>
            <a:off x="713232" y="164592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2200" b="0">
                <a:solidFill>
                  <a:srgbClr val="172B3B"/>
                </a:solidFill>
                <a:latin typeface="Arial"/>
              </a:defRPr>
            </a:pPr>
            <a:r>
              <a:t>Request -&gt; Dispatch -&gt; Field visit -&gt; Review</a:t>
            </a:r>
          </a:p>
        </p:txBody>
      </p:sp>
      <p:sp>
        <p:nvSpPr>
          <p:cNvPr id="6" name="Request"/>
          <p:cNvSpPr/>
          <p:nvPr/>
        </p:nvSpPr>
        <p:spPr>
          <a:xfrm>
            <a:off x="777240" y="2331720"/>
            <a:ext cx="2267712" cy="914400"/>
          </a:xfrm>
          <a:prstGeom prst="roundRect">
            <a:avLst>
              <a:gd name="adj" fmla="val 10000"/>
            </a:avLst>
          </a:prstGeom>
          <a:solidFill>
            <a:srgbClr val="E9E1D3"/>
          </a:solidFill>
          <a:ln w="12700">
            <a:solidFill>
              <a:srgbClr val="BBA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2300">
                <a:solidFill>
                  <a:srgbClr val="172B3B"/>
                </a:solidFill>
                <a:latin typeface="Arial"/>
              </a:defRPr>
            </a:pPr>
            <a:r>
              <a:t>Request</a:t>
            </a:r>
          </a:p>
        </p:txBody>
      </p:sp>
      <p:sp>
        <p:nvSpPr>
          <p:cNvPr id="7" name="Dispatch"/>
          <p:cNvSpPr/>
          <p:nvPr/>
        </p:nvSpPr>
        <p:spPr>
          <a:xfrm>
            <a:off x="3401568" y="2331720"/>
            <a:ext cx="2267712" cy="914400"/>
          </a:xfrm>
          <a:prstGeom prst="roundRect">
            <a:avLst>
              <a:gd name="adj" fmla="val 10000"/>
            </a:avLst>
          </a:prstGeom>
          <a:solidFill>
            <a:srgbClr val="E9E1D3"/>
          </a:solidFill>
          <a:ln w="12700">
            <a:solidFill>
              <a:srgbClr val="BBA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2300">
                <a:solidFill>
                  <a:srgbClr val="172B3B"/>
                </a:solidFill>
                <a:latin typeface="Arial"/>
              </a:defRPr>
            </a:pPr>
            <a:r>
              <a:t>Dispatch</a:t>
            </a:r>
          </a:p>
        </p:txBody>
      </p:sp>
      <p:cxnSp>
        <p:nvCxnSpPr>
          <p:cNvPr id="8" name="Request -&gt; Dispatch"/>
          <p:cNvCxnSpPr/>
          <p:nvPr/>
        </p:nvCxnSpPr>
        <p:spPr>
          <a:xfrm>
            <a:off x="3044952" y="2788920"/>
            <a:ext cx="356616" cy="0"/>
          </a:xfrm>
          <a:prstGeom prst="line">
            <a:avLst/>
          </a:prstGeom>
          <a:ln w="31750">
            <a:solidFill>
              <a:srgbClr val="172B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ield visit"/>
          <p:cNvSpPr/>
          <p:nvPr/>
        </p:nvSpPr>
        <p:spPr>
          <a:xfrm>
            <a:off x="6025896" y="2331720"/>
            <a:ext cx="2267712" cy="914400"/>
          </a:xfrm>
          <a:prstGeom prst="roundRect">
            <a:avLst>
              <a:gd name="adj" fmla="val 10000"/>
            </a:avLst>
          </a:prstGeom>
          <a:solidFill>
            <a:srgbClr val="E9E1D3"/>
          </a:solidFill>
          <a:ln w="12700">
            <a:solidFill>
              <a:srgbClr val="BBA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2300">
                <a:solidFill>
                  <a:srgbClr val="172B3B"/>
                </a:solidFill>
                <a:latin typeface="Arial"/>
              </a:defRPr>
            </a:pPr>
            <a:r>
              <a:t>Field visit</a:t>
            </a:r>
          </a:p>
        </p:txBody>
      </p:sp>
      <p:cxnSp>
        <p:nvCxnSpPr>
          <p:cNvPr id="10" name="Dispatch -&gt; Field visit"/>
          <p:cNvCxnSpPr/>
          <p:nvPr/>
        </p:nvCxnSpPr>
        <p:spPr>
          <a:xfrm>
            <a:off x="5669280" y="2788920"/>
            <a:ext cx="356616" cy="0"/>
          </a:xfrm>
          <a:prstGeom prst="line">
            <a:avLst/>
          </a:prstGeom>
          <a:ln w="31750">
            <a:solidFill>
              <a:srgbClr val="172B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view"/>
          <p:cNvSpPr/>
          <p:nvPr/>
        </p:nvSpPr>
        <p:spPr>
          <a:xfrm>
            <a:off x="8650224" y="2331720"/>
            <a:ext cx="2267712" cy="914400"/>
          </a:xfrm>
          <a:prstGeom prst="roundRect">
            <a:avLst>
              <a:gd name="adj" fmla="val 10000"/>
            </a:avLst>
          </a:prstGeom>
          <a:solidFill>
            <a:srgbClr val="E9E1D3"/>
          </a:solidFill>
          <a:ln w="12700">
            <a:solidFill>
              <a:srgbClr val="BBA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2300">
                <a:solidFill>
                  <a:srgbClr val="172B3B"/>
                </a:solidFill>
                <a:latin typeface="Arial"/>
              </a:defRPr>
            </a:pPr>
            <a:r>
              <a:t>Review</a:t>
            </a:r>
          </a:p>
        </p:txBody>
      </p:sp>
      <p:cxnSp>
        <p:nvCxnSpPr>
          <p:cNvPr id="12" name="Field visit -&gt; Review"/>
          <p:cNvCxnSpPr/>
          <p:nvPr/>
        </p:nvCxnSpPr>
        <p:spPr>
          <a:xfrm>
            <a:off x="8293608" y="2788920"/>
            <a:ext cx="356616" cy="0"/>
          </a:xfrm>
          <a:prstGeom prst="line">
            <a:avLst/>
          </a:prstGeom>
          <a:ln w="31750">
            <a:solidFill>
              <a:srgbClr val="172B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view -&gt; Dispatch: failed review"/>
          <p:cNvSpPr/>
          <p:nvPr/>
        </p:nvSpPr>
        <p:spPr>
          <a:xfrm>
            <a:off x="4041648" y="3246120"/>
            <a:ext cx="5742432" cy="1051560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10000" y="0"/>
                </a:moveTo>
                <a:cubicBezTo>
                  <a:pt x="10000" y="10000"/>
                  <a:pt x="0" y="10000"/>
                  <a:pt x="0" y="0"/>
                </a:cubicBezTo>
              </a:path>
            </a:pathLst>
          </a:custGeom>
          <a:noFill/>
          <a:ln w="31750">
            <a:solidFill>
              <a:srgbClr val="8C481F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ailed review returns to Dispatch"/>
          <p:cNvSpPr txBox="1"/>
          <p:nvPr/>
        </p:nvSpPr>
        <p:spPr>
          <a:xfrm>
            <a:off x="3794760" y="4480560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2300" b="1">
                <a:solidFill>
                  <a:srgbClr val="8C481F"/>
                </a:solidFill>
                <a:latin typeface="Arial"/>
              </a:defRPr>
            </a:pPr>
            <a:r>
              <a:t>Failed review returns to Dispatch</a:t>
            </a:r>
          </a:p>
        </p:txBody>
      </p:sp>
      <p:sp>
        <p:nvSpPr>
          <p:cNvPr id="15" name="A failed review returns to Dispatch."/>
          <p:cNvSpPr txBox="1"/>
          <p:nvPr/>
        </p:nvSpPr>
        <p:spPr>
          <a:xfrm>
            <a:off x="713232" y="553212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2400" b="0">
                <a:solidFill>
                  <a:srgbClr val="172B3B"/>
                </a:solidFill>
                <a:latin typeface="Arial"/>
              </a:defRPr>
            </a:pPr>
            <a:r>
              <a:t>A failed review returns to Dispatch.</a:t>
            </a:r>
          </a:p>
        </p:txBody>
      </p:sp>
    </p:spTree>
  </p:cSld>
  <p:clrMapOvr>
    <a:masterClrMapping/>
  </p:clrMapOvr>
  <p:transition xmlns:ns0="http://schemas.microsoft.com/office/powerpoint/2010/main" spd="fast" ns0:dur="200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1" grpId="0"/>
      <p:bldP spid="13" grpId="0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ompleted-visits">
    <p:bg>
      <p:bgPr>
        <a:solidFill>
          <a:srgbClr val="172B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ster original mark contours"/>
          <p:cNvSpPr/>
          <p:nvPr/>
        </p:nvSpPr>
        <p:spPr>
          <a:xfrm>
            <a:off x="9047416" y="397192"/>
            <a:ext cx="314325" cy="377190"/>
          </a:xfrm>
          <a:custGeom>
            <a:avLst/>
            <a:gdLst/>
            <a:ahLst/>
            <a:cxnLst/>
            <a:rect l="l" t="t" r="r" b="b"/>
            <a:pathLst>
              <a:path w="50" h="60">
                <a:moveTo>
                  <a:pt x="0" y="30"/>
                </a:moveTo>
                <a:lnTo>
                  <a:pt x="25" y="0"/>
                </a:lnTo>
                <a:lnTo>
                  <a:pt x="50" y="30"/>
                </a:lnTo>
                <a:lnTo>
                  <a:pt x="25" y="60"/>
                </a:lnTo>
                <a:close/>
              </a:path>
            </a:pathLst>
          </a:custGeom>
          <a:solidFill>
            <a:srgbClr val="B56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ster supplied Arial wordmark"/>
          <p:cNvSpPr txBox="1"/>
          <p:nvPr/>
        </p:nvSpPr>
        <p:spPr>
          <a:xfrm>
            <a:off x="9468611" y="460057"/>
            <a:ext cx="2061972" cy="282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1485" b="0">
                <a:solidFill>
                  <a:srgbClr val="F7F3E9"/>
                </a:solidFill>
                <a:latin typeface="Arial"/>
              </a:defRPr>
            </a:pPr>
            <a:r>
              <a:t>Aster Fieldworks</a:t>
            </a:r>
          </a:p>
        </p:txBody>
      </p:sp>
      <p:sp>
        <p:nvSpPr>
          <p:cNvPr id="4" name="Completed visits"/>
          <p:cNvSpPr txBox="1"/>
          <p:nvPr/>
        </p:nvSpPr>
        <p:spPr>
          <a:xfrm>
            <a:off x="685800" y="777240"/>
            <a:ext cx="7589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4200" b="1">
                <a:solidFill>
                  <a:srgbClr val="F7F3E9"/>
                </a:solidFill>
                <a:latin typeface="Arial"/>
              </a:defRPr>
            </a:pPr>
            <a:r>
              <a:t>Completed visits</a:t>
            </a:r>
          </a:p>
        </p:txBody>
      </p:sp>
      <p:sp>
        <p:nvSpPr>
          <p:cNvPr id="5" name="45"/>
          <p:cNvSpPr txBox="1"/>
          <p:nvPr/>
        </p:nvSpPr>
        <p:spPr>
          <a:xfrm>
            <a:off x="685800" y="182880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8500" b="0">
                <a:solidFill>
                  <a:srgbClr val="E2A276"/>
                </a:solidFill>
                <a:latin typeface="Arial"/>
              </a:defRPr>
            </a:pPr>
            <a:r>
              <a:t>45</a:t>
            </a:r>
          </a:p>
        </p:txBody>
      </p:sp>
      <p:sp>
        <p:nvSpPr>
          <p:cNvPr id="6" name="completed visits"/>
          <p:cNvSpPr txBox="1"/>
          <p:nvPr/>
        </p:nvSpPr>
        <p:spPr>
          <a:xfrm>
            <a:off x="758952" y="299008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2300" b="0">
                <a:solidFill>
                  <a:srgbClr val="F7F3E9"/>
                </a:solidFill>
                <a:latin typeface="Arial"/>
              </a:defRPr>
            </a:pPr>
            <a:r>
              <a:t>completed visits</a:t>
            </a:r>
          </a:p>
        </p:txBody>
      </p:sp>
      <p:sp>
        <p:nvSpPr>
          <p:cNvPr id="7" name="East 10; Central 15; West 20. Total 45 visits."/>
          <p:cNvSpPr txBox="1"/>
          <p:nvPr/>
        </p:nvSpPr>
        <p:spPr>
          <a:xfrm>
            <a:off x="758952" y="3776472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2200" b="0">
                <a:solidFill>
                  <a:srgbClr val="F7F3E9"/>
                </a:solidFill>
                <a:latin typeface="Arial"/>
              </a:defRPr>
            </a:pPr>
            <a:r>
              <a:t>East 10; Central 15; West 20. Total 45 visits.</a:t>
            </a:r>
          </a:p>
        </p:txBody>
      </p:sp>
      <p:sp>
        <p:nvSpPr>
          <p:cNvPr id="8" name="These are counts, not rates."/>
          <p:cNvSpPr txBox="1"/>
          <p:nvPr/>
        </p:nvSpPr>
        <p:spPr>
          <a:xfrm>
            <a:off x="758952" y="5166360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2200" b="0">
                <a:solidFill>
                  <a:srgbClr val="F7F3E9"/>
                </a:solidFill>
                <a:latin typeface="Arial"/>
              </a:defRPr>
            </a:pPr>
            <a:r>
              <a:t>These are counts, not rates.</a:t>
            </a:r>
          </a:p>
        </p:txBody>
      </p:sp>
      <p:graphicFrame>
        <p:nvGraphicFramePr>
          <p:cNvPr id="9" name="Completed visits: editable native Visits series"/>
          <p:cNvGraphicFramePr>
            <a:graphicFrameLocks noGrp="1"/>
          </p:cNvGraphicFramePr>
          <p:nvPr/>
        </p:nvGraphicFramePr>
        <p:xfrm>
          <a:off x="4069080" y="1810512"/>
          <a:ext cx="7452360" cy="43251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xmlns:ns0="http://schemas.microsoft.com/office/powerpoint/2010/main" spd="fast" ns0:dur="200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bldStep="series" seriesIdx="0" categoryIdx="-1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9">
                                            <p:graphicEl>
                                              <a:chart bldStep="series" seriesIdx="0" categoryIdx="-1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Sub>
          <a:bldChart bld="series" animBg="0"/>
        </p:bldSub>
      </p:bldGraphic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boundaries"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ster original mark contours"/>
          <p:cNvSpPr/>
          <p:nvPr/>
        </p:nvSpPr>
        <p:spPr>
          <a:xfrm>
            <a:off x="9047416" y="397192"/>
            <a:ext cx="314325" cy="377190"/>
          </a:xfrm>
          <a:custGeom>
            <a:avLst/>
            <a:gdLst/>
            <a:ahLst/>
            <a:cxnLst/>
            <a:rect l="l" t="t" r="r" b="b"/>
            <a:pathLst>
              <a:path w="50" h="60">
                <a:moveTo>
                  <a:pt x="0" y="30"/>
                </a:moveTo>
                <a:lnTo>
                  <a:pt x="25" y="0"/>
                </a:lnTo>
                <a:lnTo>
                  <a:pt x="50" y="30"/>
                </a:lnTo>
                <a:lnTo>
                  <a:pt x="25" y="60"/>
                </a:lnTo>
                <a:close/>
              </a:path>
            </a:pathLst>
          </a:custGeom>
          <a:solidFill>
            <a:srgbClr val="B56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ster supplied Arial wordmark"/>
          <p:cNvSpPr txBox="1"/>
          <p:nvPr/>
        </p:nvSpPr>
        <p:spPr>
          <a:xfrm>
            <a:off x="9468611" y="460057"/>
            <a:ext cx="2061972" cy="282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1485" b="0">
                <a:solidFill>
                  <a:srgbClr val="172B3B"/>
                </a:solidFill>
                <a:latin typeface="Arial"/>
              </a:defRPr>
            </a:pPr>
            <a:r>
              <a:t>Aster Fieldworks</a:t>
            </a:r>
          </a:p>
        </p:txBody>
      </p:sp>
      <p:sp>
        <p:nvSpPr>
          <p:cNvPr id="4" name="Boundaries"/>
          <p:cNvSpPr txBox="1"/>
          <p:nvPr/>
        </p:nvSpPr>
        <p:spPr>
          <a:xfrm>
            <a:off x="685800" y="91440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4600" b="1">
                <a:solidFill>
                  <a:srgbClr val="172B3B"/>
                </a:solidFill>
                <a:latin typeface="Arial"/>
              </a:defRPr>
            </a:pPr>
            <a:r>
              <a:t>Boundaries</a:t>
            </a:r>
          </a:p>
        </p:txBody>
      </p:sp>
      <p:sp>
        <p:nvSpPr>
          <p:cNvPr id="5" name="Scope of this review"/>
          <p:cNvSpPr txBox="1"/>
          <p:nvPr/>
        </p:nvSpPr>
        <p:spPr>
          <a:xfrm>
            <a:off x="722376" y="210312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2400" b="0">
                <a:solidFill>
                  <a:srgbClr val="8C481F"/>
                </a:solidFill>
                <a:latin typeface="Arial"/>
              </a:defRPr>
            </a:pPr>
            <a:r>
              <a:t>Scope of this review</a:t>
            </a:r>
          </a:p>
        </p:txBody>
      </p:sp>
      <p:sp>
        <p:nvSpPr>
          <p:cNvPr id="6" name="Costs unavailable.&#10;No forecast or confidence interval was supplied."/>
          <p:cNvSpPr txBox="1"/>
          <p:nvPr/>
        </p:nvSpPr>
        <p:spPr>
          <a:xfrm>
            <a:off x="4572000" y="2075688"/>
            <a:ext cx="672084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3000" b="0">
                <a:solidFill>
                  <a:srgbClr val="172B3B"/>
                </a:solidFill>
                <a:latin typeface="Arial"/>
              </a:defRPr>
            </a:pPr>
            <a:r>
              <a:t>Costs unavailable.</a:t>
            </a:r>
          </a:p>
          <a:p>
            <a:pPr algn="l">
              <a:spcAft>
                <a:spcPts val="1000"/>
              </a:spcAft>
              <a:defRPr sz="3000" b="0">
                <a:solidFill>
                  <a:srgbClr val="172B3B"/>
                </a:solidFill>
                <a:latin typeface="Arial"/>
              </a:defRPr>
            </a:pPr>
            <a:r>
              <a:t>No forecast or confidence interval was supplied.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4754880"/>
            <a:ext cx="6766560" cy="18288"/>
          </a:xfrm>
          <a:prstGeom prst="rect">
            <a:avLst/>
          </a:prstGeom>
          <a:solidFill>
            <a:srgbClr val="BBA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ive source slides including this page."/>
          <p:cNvSpPr txBox="1"/>
          <p:nvPr/>
        </p:nvSpPr>
        <p:spPr>
          <a:xfrm>
            <a:off x="4572000" y="5120640"/>
            <a:ext cx="6629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2400" b="0">
                <a:solidFill>
                  <a:srgbClr val="172B3B"/>
                </a:solidFill>
                <a:latin typeface="Arial"/>
              </a:defRPr>
            </a:pPr>
            <a:r>
              <a:t>Five source slides including this page.</a:t>
            </a:r>
          </a:p>
        </p:txBody>
      </p:sp>
    </p:spTree>
  </p:cSld>
  <p:clrMapOvr>
    <a:masterClrMapping/>
  </p:clrMapOvr>
  <p:transition xmlns:ns0="http://schemas.microsoft.com/office/powerpoint/2010/main" spd="fast" ns0:dur="200">
    <p:fade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Aster service review</dc:title>
  <dc:subject>Synthetic field service results</dc:subject>
  <dc:creator>Aster Fieldworks</dc:creator>
  <cp:keywords/>
  <dc:description>generated using python-pptx</dc:description>
  <cp:lastModifiedBy>Aster Fieldworks</cp:lastModifiedBy>
  <cp:revision>1</cp:revision>
  <dcterms:created xsi:type="dcterms:W3CDTF">2026-09-09T00:00:00Z</dcterms:created>
  <dcterms:modified xsi:type="dcterms:W3CDTF">2026-09-09T00:00:00Z</dcterms:modified>
  <cp:category/>
</cp:coreProperties>
</file>